
<file path=[Content_Types].xml><?xml version="1.0" encoding="utf-8"?>
<Types xmlns="http://schemas.openxmlformats.org/package/2006/content-types">
  <Default Extension="svg" ContentType="image/svg+xml"/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4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docProps/custom.xml" ContentType="application/vnd.openxmlformats-officedocument.custom-properties+xml"/>
  <Override PartName="/ppt/slides/slide6.xml" ContentType="application/vnd.openxmlformats-officedocument.presentationml.slide+xml"/>
  <Override PartName="/ppt/notesSlides/notesSlide17.xml" ContentType="application/vnd.openxmlformats-officedocument.presentationml.notes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4630400" cy="8229600"/>
  <p:notesSz cx="6858000" cy="9144000"/>
  <p:defaultTextStyle>
    <a:defPPr marL="0" marR="0" indent="0" algn="l" defTabSz="54864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lang="en-GB" sz="11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49529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900" b="0" i="0" u="none" strike="noStrike" cap="none" spc="0">
        <a:ln>
          <a:noFill/>
        </a:ln>
        <a:solidFill>
          <a:srgbClr val="FFFFFF"/>
        </a:solidFill>
        <a:latin typeface="Asap SemiBold"/>
        <a:ea typeface="Asap SemiBold"/>
        <a:cs typeface="Asap SemiBold"/>
      </a:defRPr>
    </a:lvl1pPr>
    <a:lvl2pPr marL="0" marR="0" indent="137160" algn="l" defTabSz="49529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900" b="0" i="0" u="none" strike="noStrike" cap="none" spc="0">
        <a:ln>
          <a:noFill/>
        </a:ln>
        <a:solidFill>
          <a:srgbClr val="FFFFFF"/>
        </a:solidFill>
        <a:latin typeface="Asap SemiBold"/>
        <a:ea typeface="Asap SemiBold"/>
        <a:cs typeface="Asap SemiBold"/>
      </a:defRPr>
    </a:lvl2pPr>
    <a:lvl3pPr marL="0" marR="0" indent="274320" algn="l" defTabSz="49529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900" b="0" i="0" u="none" strike="noStrike" cap="none" spc="0">
        <a:ln>
          <a:noFill/>
        </a:ln>
        <a:solidFill>
          <a:srgbClr val="FFFFFF"/>
        </a:solidFill>
        <a:latin typeface="Asap SemiBold"/>
        <a:ea typeface="Asap SemiBold"/>
        <a:cs typeface="Asap SemiBold"/>
      </a:defRPr>
    </a:lvl3pPr>
    <a:lvl4pPr marL="0" marR="0" indent="411480" algn="l" defTabSz="49529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900" b="0" i="0" u="none" strike="noStrike" cap="none" spc="0">
        <a:ln>
          <a:noFill/>
        </a:ln>
        <a:solidFill>
          <a:srgbClr val="FFFFFF"/>
        </a:solidFill>
        <a:latin typeface="Asap SemiBold"/>
        <a:ea typeface="Asap SemiBold"/>
        <a:cs typeface="Asap SemiBold"/>
      </a:defRPr>
    </a:lvl4pPr>
    <a:lvl5pPr marL="0" marR="0" indent="548640" algn="l" defTabSz="49529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900" b="0" i="0" u="none" strike="noStrike" cap="none" spc="0">
        <a:ln>
          <a:noFill/>
        </a:ln>
        <a:solidFill>
          <a:srgbClr val="FFFFFF"/>
        </a:solidFill>
        <a:latin typeface="Asap SemiBold"/>
        <a:ea typeface="Asap SemiBold"/>
        <a:cs typeface="Asap SemiBold"/>
      </a:defRPr>
    </a:lvl5pPr>
    <a:lvl6pPr marL="0" marR="0" indent="685800" algn="l" defTabSz="49529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900" b="0" i="0" u="none" strike="noStrike" cap="none" spc="0">
        <a:ln>
          <a:noFill/>
        </a:ln>
        <a:solidFill>
          <a:srgbClr val="FFFFFF"/>
        </a:solidFill>
        <a:latin typeface="Asap SemiBold"/>
        <a:ea typeface="Asap SemiBold"/>
        <a:cs typeface="Asap SemiBold"/>
      </a:defRPr>
    </a:lvl6pPr>
    <a:lvl7pPr marL="0" marR="0" indent="822960" algn="l" defTabSz="49529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900" b="0" i="0" u="none" strike="noStrike" cap="none" spc="0">
        <a:ln>
          <a:noFill/>
        </a:ln>
        <a:solidFill>
          <a:srgbClr val="FFFFFF"/>
        </a:solidFill>
        <a:latin typeface="Asap SemiBold"/>
        <a:ea typeface="Asap SemiBold"/>
        <a:cs typeface="Asap SemiBold"/>
      </a:defRPr>
    </a:lvl7pPr>
    <a:lvl8pPr marL="0" marR="0" indent="960120" algn="l" defTabSz="49529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900" b="0" i="0" u="none" strike="noStrike" cap="none" spc="0">
        <a:ln>
          <a:noFill/>
        </a:ln>
        <a:solidFill>
          <a:srgbClr val="FFFFFF"/>
        </a:solidFill>
        <a:latin typeface="Asap SemiBold"/>
        <a:ea typeface="Asap SemiBold"/>
        <a:cs typeface="Asap SemiBold"/>
      </a:defRPr>
    </a:lvl8pPr>
    <a:lvl9pPr marL="0" marR="0" indent="1097280" algn="l" defTabSz="49529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900" b="0" i="0" u="none" strike="noStrike" cap="none" spc="0">
        <a:ln>
          <a:noFill/>
        </a:ln>
        <a:solidFill>
          <a:srgbClr val="FFFFFF"/>
        </a:solidFill>
        <a:latin typeface="Asap SemiBold"/>
        <a:ea typeface="Asap SemiBold"/>
        <a:cs typeface="Asap SemiBold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44" d="100"/>
          <a:sy n="44" d="100"/>
        </p:scale>
        <p:origin x="996" y="40"/>
      </p:cViewPr>
      <p:guideLst>
        <p:guide pos="4608"/>
        <p:guide pos="2592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 /><Relationship Id="rId24" Type="http://schemas.openxmlformats.org/officeDocument/2006/relationships/tableStyles" Target="tableStyles.xml" /><Relationship Id="rId2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807496" name="Shape 116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4673667" name="Shape 117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74320">
      <a:lnSpc>
        <a:spcPct val="117999"/>
      </a:lnSpc>
      <a:defRPr sz="1300">
        <a:latin typeface="Helvetica Neue"/>
        <a:ea typeface="Helvetica Neue"/>
        <a:cs typeface="Helvetica Neue"/>
      </a:defRPr>
    </a:lvl1pPr>
    <a:lvl2pPr indent="137160" defTabSz="274320">
      <a:lnSpc>
        <a:spcPct val="117999"/>
      </a:lnSpc>
      <a:defRPr sz="1300">
        <a:latin typeface="Helvetica Neue"/>
        <a:ea typeface="Helvetica Neue"/>
        <a:cs typeface="Helvetica Neue"/>
      </a:defRPr>
    </a:lvl2pPr>
    <a:lvl3pPr indent="274320" defTabSz="274320">
      <a:lnSpc>
        <a:spcPct val="117999"/>
      </a:lnSpc>
      <a:defRPr sz="1300">
        <a:latin typeface="Helvetica Neue"/>
        <a:ea typeface="Helvetica Neue"/>
        <a:cs typeface="Helvetica Neue"/>
      </a:defRPr>
    </a:lvl3pPr>
    <a:lvl4pPr indent="411480" defTabSz="274320">
      <a:lnSpc>
        <a:spcPct val="117999"/>
      </a:lnSpc>
      <a:defRPr sz="1300">
        <a:latin typeface="Helvetica Neue"/>
        <a:ea typeface="Helvetica Neue"/>
        <a:cs typeface="Helvetica Neue"/>
      </a:defRPr>
    </a:lvl4pPr>
    <a:lvl5pPr indent="548640" defTabSz="274320">
      <a:lnSpc>
        <a:spcPct val="117999"/>
      </a:lnSpc>
      <a:defRPr sz="1300">
        <a:latin typeface="Helvetica Neue"/>
        <a:ea typeface="Helvetica Neue"/>
        <a:cs typeface="Helvetica Neue"/>
      </a:defRPr>
    </a:lvl5pPr>
    <a:lvl6pPr indent="685800" defTabSz="274320">
      <a:lnSpc>
        <a:spcPct val="117999"/>
      </a:lnSpc>
      <a:defRPr sz="1300">
        <a:latin typeface="Helvetica Neue"/>
        <a:ea typeface="Helvetica Neue"/>
        <a:cs typeface="Helvetica Neue"/>
      </a:defRPr>
    </a:lvl6pPr>
    <a:lvl7pPr indent="822960" defTabSz="274320">
      <a:lnSpc>
        <a:spcPct val="117999"/>
      </a:lnSpc>
      <a:defRPr sz="1300">
        <a:latin typeface="Helvetica Neue"/>
        <a:ea typeface="Helvetica Neue"/>
        <a:cs typeface="Helvetica Neue"/>
      </a:defRPr>
    </a:lvl7pPr>
    <a:lvl8pPr indent="960120" defTabSz="274320">
      <a:lnSpc>
        <a:spcPct val="117999"/>
      </a:lnSpc>
      <a:defRPr sz="1300">
        <a:latin typeface="Helvetica Neue"/>
        <a:ea typeface="Helvetica Neue"/>
        <a:cs typeface="Helvetica Neue"/>
      </a:defRPr>
    </a:lvl8pPr>
    <a:lvl9pPr indent="1097280" defTabSz="274320">
      <a:lnSpc>
        <a:spcPct val="117999"/>
      </a:lnSpc>
      <a:defRPr sz="1300">
        <a:latin typeface="Helvetica Neue"/>
        <a:ea typeface="Helvetica Neue"/>
        <a:cs typeface="Helvetica Neue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244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8474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813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2066B9-561E-3320-A2B1-C4244C12998D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2507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5309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317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063567-8620-DBE1-4C5F-C19E3CA97EAC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501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0978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5616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671E39-A4CF-CE32-AC75-2EF1CD268A35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4117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90874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825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C827F-A8C1-A65F-C80D-FE798151059D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8877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810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899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35E2D1-1A9E-F59A-909F-CFCD6693B894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7177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7538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Also rewriting the Binder in Rust</a:t>
            </a:r>
            <a:endParaRPr/>
          </a:p>
        </p:txBody>
      </p:sp>
      <p:sp>
        <p:nvSpPr>
          <p:cNvPr id="350766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8EED90-77F1-DC81-8946-066814F1D7F2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7515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9729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085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DB555A-EA33-DA89-1DC9-140175364A13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6733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810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63519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B0BD11-EA8A-87FA-4391-35C0E55DC76A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4772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3790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334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9A9CA4-F09F-827E-1E91-E740615291D1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9108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39373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Analogy with Pwn challenges</a:t>
            </a:r>
            <a:endParaRPr/>
          </a:p>
        </p:txBody>
      </p:sp>
      <p:sp>
        <p:nvSpPr>
          <p:cNvPr id="15763879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BD8A48-449B-3BE7-E958-2337685EF208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198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071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7746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B7FEBB-2EAB-3BFD-6462-ED6E18AC69C8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9440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103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35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29C282-5797-DDD8-9ADF-716776A9EBA2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1980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07378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59420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130B59-BC59-4D63-DFED-C5C54F7EC6E5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152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8243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3713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50C867-8197-2451-D2FA-45E022935017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576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9418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1674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DAC35D-DF31-8E16-1331-72405B65B2A6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06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7176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85503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8956C4-5DFD-2CA2-5478-00747DF934BE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3735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32705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466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63B4B7-EC7F-9969-A38E-31C9A192A9D5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1883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9652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05723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95961-CE4A-4AAF-2F8F-D7A198D74365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146749" name="Rectangle 2"/>
          <p:cNvSpPr/>
          <p:nvPr userDrawn="1"/>
        </p:nvSpPr>
        <p:spPr bwMode="auto">
          <a:xfrm>
            <a:off x="12325761" y="7874234"/>
            <a:ext cx="202651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495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0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 Black"/>
              </a:rPr>
              <a:t>#BHEU   @BlackHatEvents</a:t>
            </a:r>
            <a:endParaRPr/>
          </a:p>
        </p:txBody>
      </p:sp>
      <p:pic>
        <p:nvPicPr>
          <p:cNvPr id="48632120" name="Picture 3" descr="A black background with white text&#10;&#10;AI-generated content may be incorrect.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718496" y="2417197"/>
            <a:ext cx="4335403" cy="1082456"/>
          </a:xfrm>
          <a:prstGeom prst="rect">
            <a:avLst/>
          </a:prstGeom>
        </p:spPr>
      </p:pic>
      <p:pic>
        <p:nvPicPr>
          <p:cNvPr id="969281858" name="Picture 6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742767" y="659170"/>
            <a:ext cx="4289477" cy="19572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427337" name="Rectangle 2"/>
          <p:cNvSpPr/>
          <p:nvPr userDrawn="1"/>
        </p:nvSpPr>
        <p:spPr bwMode="auto">
          <a:xfrm>
            <a:off x="12325761" y="7874234"/>
            <a:ext cx="202651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495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0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 Black"/>
              </a:rPr>
              <a:t>#BHEU   @BlackHatEvents</a:t>
            </a:r>
            <a:endParaRPr/>
          </a:p>
        </p:txBody>
      </p:sp>
      <p:pic>
        <p:nvPicPr>
          <p:cNvPr id="1363457508" name="Picture 5" descr="A black background with white text&#10;&#10;AI-generated content may be incorrect.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235170" y="1973060"/>
            <a:ext cx="4335403" cy="1082456"/>
          </a:xfrm>
          <a:prstGeom prst="rect">
            <a:avLst/>
          </a:prstGeom>
        </p:spPr>
      </p:pic>
      <p:pic>
        <p:nvPicPr>
          <p:cNvPr id="1311150565" name="Picture 6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259441" y="215033"/>
            <a:ext cx="4289477" cy="19572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&amp; Sub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474354" name="Title Text"/>
          <p:cNvSpPr txBox="1">
            <a:spLocks noGrp="1"/>
          </p:cNvSpPr>
          <p:nvPr>
            <p:ph type="title"/>
          </p:nvPr>
        </p:nvSpPr>
        <p:spPr bwMode="auto">
          <a:xfrm>
            <a:off x="1066800" y="1379220"/>
            <a:ext cx="12496800" cy="27889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600">
                <a:solidFill>
                  <a:srgbClr val="1A6690"/>
                </a:solidFill>
                <a:latin typeface="Arial Black"/>
              </a:defRPr>
            </a:lvl1pPr>
          </a:lstStyle>
          <a:p>
            <a:pPr>
              <a:defRPr/>
            </a:pPr>
            <a:r>
              <a:rPr/>
              <a:t>Title Text</a:t>
            </a:r>
            <a:endParaRPr/>
          </a:p>
        </p:txBody>
      </p:sp>
      <p:sp>
        <p:nvSpPr>
          <p:cNvPr id="552048533" name="Body Level One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066800" y="4244339"/>
            <a:ext cx="12496800" cy="3175791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24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1pPr>
            <a:lvl2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20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2pPr>
            <a:lvl3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18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3pPr>
            <a:lvl4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18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4pPr>
            <a:lvl5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14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5pPr>
          </a:lstStyle>
          <a:p>
            <a:pPr>
              <a:defRPr/>
            </a:pPr>
            <a:r>
              <a:rPr/>
              <a:t>Body Level One</a:t>
            </a:r>
            <a:endParaRPr/>
          </a:p>
          <a:p>
            <a:pPr lvl="1">
              <a:defRPr/>
            </a:pPr>
            <a:r>
              <a:rPr/>
              <a:t>Body Level Two</a:t>
            </a:r>
            <a:endParaRPr/>
          </a:p>
          <a:p>
            <a:pPr lvl="2">
              <a:defRPr/>
            </a:pPr>
            <a:r>
              <a:rPr lang="en-US"/>
              <a:t>Body Level Three</a:t>
            </a:r>
            <a:endParaRPr/>
          </a:p>
          <a:p>
            <a:pPr lvl="3">
              <a:defRPr/>
            </a:pPr>
            <a:r>
              <a:rPr/>
              <a:t>Body Level Four</a:t>
            </a:r>
            <a:endParaRPr/>
          </a:p>
          <a:p>
            <a:pPr lvl="4">
              <a:defRPr/>
            </a:pPr>
            <a:r>
              <a:rPr/>
              <a:t>Body Level Five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Title - Cen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254173" name="Title Text"/>
          <p:cNvSpPr txBox="1">
            <a:spLocks noGrp="1"/>
          </p:cNvSpPr>
          <p:nvPr>
            <p:ph type="title"/>
          </p:nvPr>
        </p:nvSpPr>
        <p:spPr bwMode="auto">
          <a:xfrm>
            <a:off x="1066800" y="2720340"/>
            <a:ext cx="12496800" cy="278892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>
                <a:solidFill>
                  <a:srgbClr val="1A6690"/>
                </a:solidFill>
                <a:latin typeface="Arial Black"/>
              </a:defRPr>
            </a:lvl1pPr>
          </a:lstStyle>
          <a:p>
            <a:pPr>
              <a:defRPr/>
            </a:pPr>
            <a:r>
              <a:rPr/>
              <a:t>Title Text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Photo -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479703" name="Image"/>
          <p:cNvSpPr>
            <a:spLocks noGrp="1"/>
          </p:cNvSpPr>
          <p:nvPr>
            <p:ph type="pic" idx="13"/>
          </p:nvPr>
        </p:nvSpPr>
        <p:spPr bwMode="auto">
          <a:xfrm>
            <a:off x="7315200" y="1571625"/>
            <a:ext cx="7810501" cy="578167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2332201" name="Title Text"/>
          <p:cNvSpPr txBox="1">
            <a:spLocks noGrp="1"/>
          </p:cNvSpPr>
          <p:nvPr>
            <p:ph type="title"/>
          </p:nvPr>
        </p:nvSpPr>
        <p:spPr bwMode="auto">
          <a:xfrm>
            <a:off x="990600" y="1571623"/>
            <a:ext cx="6134100" cy="232981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495300">
              <a:lnSpc>
                <a:spcPct val="100000"/>
              </a:lnSpc>
              <a:defRPr sz="3600" spc="0">
                <a:solidFill>
                  <a:srgbClr val="1A6690"/>
                </a:solidFill>
                <a:latin typeface="Arial Black"/>
                <a:ea typeface="Helvetica Neue Medium"/>
                <a:cs typeface="Helvetica Neue Medium"/>
              </a:defRPr>
            </a:lvl1pPr>
          </a:lstStyle>
          <a:p>
            <a:pPr>
              <a:defRPr/>
            </a:pPr>
            <a:r>
              <a:rPr/>
              <a:t>Title Text</a:t>
            </a:r>
            <a:endParaRPr/>
          </a:p>
        </p:txBody>
      </p:sp>
      <p:sp>
        <p:nvSpPr>
          <p:cNvPr id="1695589669" name="Body Level One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990600" y="3901439"/>
            <a:ext cx="6134100" cy="3518691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24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1pPr>
            <a:lvl2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20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2pPr>
            <a:lvl3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18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3pPr>
            <a:lvl4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18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4pPr>
            <a:lvl5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14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5pPr>
          </a:lstStyle>
          <a:p>
            <a:pPr>
              <a:defRPr/>
            </a:pPr>
            <a:r>
              <a:rPr/>
              <a:t>Body Level One</a:t>
            </a:r>
            <a:endParaRPr/>
          </a:p>
          <a:p>
            <a:pPr lvl="1">
              <a:defRPr/>
            </a:pPr>
            <a:r>
              <a:rPr/>
              <a:t>Body Level Two</a:t>
            </a:r>
            <a:endParaRPr/>
          </a:p>
          <a:p>
            <a:pPr lvl="2">
              <a:defRPr/>
            </a:pPr>
            <a:r>
              <a:rPr lang="en-US"/>
              <a:t>Body Level Three</a:t>
            </a:r>
            <a:endParaRPr/>
          </a:p>
          <a:p>
            <a:pPr lvl="3">
              <a:defRPr/>
            </a:pPr>
            <a:r>
              <a:rPr/>
              <a:t>Body Level Four</a:t>
            </a:r>
            <a:endParaRPr/>
          </a:p>
          <a:p>
            <a:pPr lvl="4">
              <a:defRPr/>
            </a:pPr>
            <a:r>
              <a:rPr/>
              <a:t>Body Level Five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Title - Top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Title &amp; Bulle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493215" name="Body Level One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066800" y="1828800"/>
            <a:ext cx="12496800" cy="5591331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Font typeface="Arial"/>
              <a:buChar char="•"/>
              <a:defRPr sz="24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1pPr>
            <a:lvl2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Font typeface="Arial"/>
              <a:buChar char="•"/>
              <a:defRPr sz="20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2pPr>
            <a:lvl3pPr marL="285750" indent="-28575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Font typeface="Arial"/>
              <a:buChar char="•"/>
              <a:defRPr sz="18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3pPr>
            <a:lvl4pPr marL="285750" indent="-28575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Font typeface="Arial"/>
              <a:buChar char="•"/>
              <a:defRPr sz="18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4pPr>
            <a:lvl5pPr marL="285750" indent="-28575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Font typeface="Arial"/>
              <a:buChar char="•"/>
              <a:defRPr sz="14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5pPr>
          </a:lstStyle>
          <a:p>
            <a:pPr>
              <a:defRPr/>
            </a:pPr>
            <a:r>
              <a:rPr/>
              <a:t>Body Level One</a:t>
            </a:r>
            <a:endParaRPr/>
          </a:p>
          <a:p>
            <a:pPr lvl="1">
              <a:defRPr/>
            </a:pPr>
            <a:r>
              <a:rPr/>
              <a:t>Body Level Two</a:t>
            </a:r>
            <a:endParaRPr/>
          </a:p>
          <a:p>
            <a:pPr lvl="2">
              <a:defRPr/>
            </a:pPr>
            <a:r>
              <a:rPr lang="en-US"/>
              <a:t>Body Level Three</a:t>
            </a:r>
            <a:endParaRPr/>
          </a:p>
          <a:p>
            <a:pPr lvl="3">
              <a:defRPr/>
            </a:pPr>
            <a:r>
              <a:rPr/>
              <a:t>Body Level Four</a:t>
            </a:r>
            <a:endParaRPr/>
          </a:p>
          <a:p>
            <a:pPr lvl="4">
              <a:defRPr/>
            </a:pPr>
            <a:r>
              <a:rPr/>
              <a:t>Body Level Five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Title, Bullets &amp; Pho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428508" name="Image"/>
          <p:cNvSpPr>
            <a:spLocks noGrp="1"/>
          </p:cNvSpPr>
          <p:nvPr>
            <p:ph type="pic" sz="half" idx="13"/>
          </p:nvPr>
        </p:nvSpPr>
        <p:spPr bwMode="auto">
          <a:xfrm>
            <a:off x="6576060" y="1889760"/>
            <a:ext cx="8366760" cy="557784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651397502" name="Body Level One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066800" y="1889760"/>
            <a:ext cx="5348288" cy="5577839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2400">
                <a:solidFill>
                  <a:schemeClr val="tx2"/>
                </a:solidFill>
                <a:latin typeface="HelveticaNeueLT Std"/>
                <a:ea typeface="Helvetica Neue"/>
                <a:cs typeface="Helvetica Neue"/>
              </a:defRPr>
            </a:lvl1pPr>
            <a:lvl2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2000">
                <a:solidFill>
                  <a:schemeClr val="tx2"/>
                </a:solidFill>
                <a:latin typeface="HelveticaNeueLT Std"/>
                <a:ea typeface="Helvetica Neue"/>
                <a:cs typeface="Helvetica Neue"/>
              </a:defRPr>
            </a:lvl2pPr>
            <a:lvl3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1800">
                <a:solidFill>
                  <a:schemeClr val="tx2"/>
                </a:solidFill>
                <a:latin typeface="HelveticaNeueLT Std"/>
                <a:ea typeface="Helvetica Neue"/>
                <a:cs typeface="Helvetica Neue"/>
              </a:defRPr>
            </a:lvl3pPr>
            <a:lvl4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1800">
                <a:solidFill>
                  <a:schemeClr val="tx2"/>
                </a:solidFill>
                <a:latin typeface="HelveticaNeueLT Std"/>
                <a:ea typeface="Helvetica Neue"/>
                <a:cs typeface="Helvetica Neue"/>
              </a:defRPr>
            </a:lvl4pPr>
            <a:lvl5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1400">
                <a:solidFill>
                  <a:schemeClr val="tx2"/>
                </a:solidFill>
                <a:latin typeface="HelveticaNeueLT Std"/>
                <a:ea typeface="Helvetica Neue"/>
                <a:cs typeface="Helvetica Neue"/>
              </a:defRPr>
            </a:lvl5pPr>
          </a:lstStyle>
          <a:p>
            <a:pPr>
              <a:defRPr/>
            </a:pPr>
            <a:r>
              <a:rPr/>
              <a:t>Body Level One</a:t>
            </a:r>
            <a:endParaRPr/>
          </a:p>
          <a:p>
            <a:pPr lvl="1">
              <a:defRPr/>
            </a:pPr>
            <a:r>
              <a:rPr/>
              <a:t>Body Level Two</a:t>
            </a:r>
            <a:endParaRPr/>
          </a:p>
          <a:p>
            <a:pPr lvl="2">
              <a:defRPr/>
            </a:pPr>
            <a:r>
              <a:rPr lang="en-US"/>
              <a:t>Body Level Three</a:t>
            </a:r>
            <a:endParaRPr/>
          </a:p>
          <a:p>
            <a:pPr lvl="3">
              <a:defRPr/>
            </a:pPr>
            <a:r>
              <a:rPr/>
              <a:t>Body Level Four</a:t>
            </a:r>
            <a:endParaRPr/>
          </a:p>
          <a:p>
            <a:pPr lvl="4">
              <a:defRPr/>
            </a:pPr>
            <a:r>
              <a:rPr/>
              <a:t>Body Level Five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Bulle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450228" name="Body Level One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066800" y="1771651"/>
            <a:ext cx="12496800" cy="564848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24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1pPr>
            <a:lvl2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20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2pPr>
            <a:lvl3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18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3pPr>
            <a:lvl4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18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4pPr>
            <a:lvl5pPr marL="0" indent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14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5pPr>
          </a:lstStyle>
          <a:p>
            <a:pPr>
              <a:defRPr/>
            </a:pPr>
            <a:r>
              <a:rPr/>
              <a:t>Body Level One</a:t>
            </a:r>
            <a:endParaRPr/>
          </a:p>
          <a:p>
            <a:pPr lvl="1">
              <a:defRPr/>
            </a:pPr>
            <a:r>
              <a:rPr/>
              <a:t>Body Level Two</a:t>
            </a:r>
            <a:endParaRPr/>
          </a:p>
          <a:p>
            <a:pPr lvl="2">
              <a:defRPr/>
            </a:pPr>
            <a:r>
              <a:rPr lang="en-US"/>
              <a:t>Body Level Three</a:t>
            </a:r>
            <a:endParaRPr/>
          </a:p>
          <a:p>
            <a:pPr lvl="3">
              <a:defRPr/>
            </a:pPr>
            <a:r>
              <a:rPr/>
              <a:t>Body Level Four</a:t>
            </a:r>
            <a:endParaRPr/>
          </a:p>
          <a:p>
            <a:pPr lvl="4">
              <a:defRPr/>
            </a:pPr>
            <a:r>
              <a:rPr/>
              <a:t>Body Level Five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x" userDrawn="1">
  <p:cSld name="Photo - 3 Up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237491" name="Image"/>
          <p:cNvSpPr>
            <a:spLocks noGrp="1"/>
          </p:cNvSpPr>
          <p:nvPr>
            <p:ph type="pic" sz="quarter" idx="13"/>
          </p:nvPr>
        </p:nvSpPr>
        <p:spPr bwMode="auto">
          <a:xfrm>
            <a:off x="9408805" y="4610098"/>
            <a:ext cx="4764396" cy="29718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59528145" name="Image"/>
          <p:cNvSpPr>
            <a:spLocks noGrp="1"/>
          </p:cNvSpPr>
          <p:nvPr>
            <p:ph type="pic" sz="quarter" idx="14"/>
          </p:nvPr>
        </p:nvSpPr>
        <p:spPr bwMode="auto">
          <a:xfrm>
            <a:off x="9408804" y="1471611"/>
            <a:ext cx="4764396" cy="29718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8554836" name="Image"/>
          <p:cNvSpPr>
            <a:spLocks noGrp="1"/>
          </p:cNvSpPr>
          <p:nvPr>
            <p:ph type="pic" idx="15"/>
          </p:nvPr>
        </p:nvSpPr>
        <p:spPr bwMode="auto">
          <a:xfrm>
            <a:off x="-182880" y="1471612"/>
            <a:ext cx="9357360" cy="608742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Quo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0883981" name="Title Text"/>
          <p:cNvSpPr txBox="1">
            <a:spLocks noGrp="1"/>
          </p:cNvSpPr>
          <p:nvPr>
            <p:ph type="title"/>
          </p:nvPr>
        </p:nvSpPr>
        <p:spPr bwMode="auto">
          <a:xfrm>
            <a:off x="1066800" y="2720340"/>
            <a:ext cx="12496800" cy="1910871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>
                <a:solidFill>
                  <a:srgbClr val="1A6690"/>
                </a:solidFill>
                <a:latin typeface="Arial Black"/>
              </a:defRPr>
            </a:lvl1pPr>
          </a:lstStyle>
          <a:p>
            <a:pPr>
              <a:defRPr/>
            </a:pPr>
            <a:r>
              <a:rPr/>
              <a:t>Title Text</a:t>
            </a:r>
            <a:endParaRPr/>
          </a:p>
        </p:txBody>
      </p:sp>
      <p:sp>
        <p:nvSpPr>
          <p:cNvPr id="724866695" name="Body Level One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066800" y="4631211"/>
            <a:ext cx="12496800" cy="278891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24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20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18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3pPr>
            <a:lvl4pPr marL="0" indent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18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4pPr>
            <a:lvl5pPr marL="0" indent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Tx/>
              <a:buNone/>
              <a:defRPr sz="1400">
                <a:solidFill>
                  <a:schemeClr val="tx2"/>
                </a:solidFill>
                <a:latin typeface="Arial"/>
                <a:ea typeface="Helvetica Neue"/>
                <a:cs typeface="Helvetica Neue"/>
              </a:defRPr>
            </a:lvl5pPr>
          </a:lstStyle>
          <a:p>
            <a:pPr>
              <a:defRPr/>
            </a:pPr>
            <a:r>
              <a:rPr/>
              <a:t>Body Level One</a:t>
            </a:r>
            <a:endParaRPr/>
          </a:p>
          <a:p>
            <a:pPr lvl="1">
              <a:defRPr/>
            </a:pPr>
            <a:r>
              <a:rPr/>
              <a:t>Body Level Two</a:t>
            </a:r>
            <a:endParaRPr/>
          </a:p>
          <a:p>
            <a:pPr lvl="2">
              <a:defRPr/>
            </a:pPr>
            <a:r>
              <a:rPr lang="en-US"/>
              <a:t>Body Level Three</a:t>
            </a:r>
            <a:endParaRPr/>
          </a:p>
          <a:p>
            <a:pPr lvl="3">
              <a:defRPr/>
            </a:pPr>
            <a:r>
              <a:rPr/>
              <a:t>Body Level Four</a:t>
            </a:r>
            <a:endParaRPr/>
          </a:p>
          <a:p>
            <a:pPr lvl="4">
              <a:defRPr/>
            </a:pPr>
            <a:r>
              <a:rPr/>
              <a:t>Body Level Five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Pho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507294" name="Picture 5"/>
          <p:cNvPicPr>
            <a:picLocks noChangeAspect="1"/>
          </p:cNvPicPr>
          <p:nvPr userDrawn="1"/>
        </p:nvPicPr>
        <p:blipFill>
          <a:blip r:embed="rId15"/>
          <a:stretch/>
        </p:blipFill>
        <p:spPr bwMode="auto">
          <a:xfrm>
            <a:off x="0" y="0"/>
            <a:ext cx="14630400" cy="1097280"/>
          </a:xfrm>
          <a:prstGeom prst="rect">
            <a:avLst/>
          </a:prstGeom>
        </p:spPr>
      </p:pic>
      <p:sp>
        <p:nvSpPr>
          <p:cNvPr id="1291620682" name="Rectangle 7"/>
          <p:cNvSpPr/>
          <p:nvPr userDrawn="1"/>
        </p:nvSpPr>
        <p:spPr bwMode="auto">
          <a:xfrm>
            <a:off x="12325761" y="7874234"/>
            <a:ext cx="202651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495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000" b="0" i="0" u="none" strike="noStrike" cap="none" spc="0">
                <a:ln>
                  <a:noFill/>
                </a:ln>
                <a:solidFill>
                  <a:srgbClr val="B1AFB1"/>
                </a:solidFill>
                <a:latin typeface="Arial Black"/>
              </a:rPr>
              <a:t>#BHEU   @BlackHatEvents</a:t>
            </a:r>
            <a:endParaRPr/>
          </a:p>
        </p:txBody>
      </p:sp>
      <p:pic>
        <p:nvPicPr>
          <p:cNvPr id="87646481" name="Picture 3"/>
          <p:cNvPicPr>
            <a:picLocks noChangeAspect="1"/>
          </p:cNvPicPr>
          <p:nvPr userDrawn="1"/>
        </p:nvPicPr>
        <p:blipFill>
          <a:blip r:embed="rId16"/>
          <a:stretch/>
        </p:blipFill>
        <p:spPr bwMode="auto">
          <a:xfrm>
            <a:off x="190500" y="58634"/>
            <a:ext cx="2195091" cy="1001616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marL="0" marR="0" indent="0" algn="l" defTabSz="54864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defRPr sz="4250" b="0" i="0" u="none" strike="noStrike" cap="none" spc="-77">
          <a:solidFill>
            <a:srgbClr val="01CF89"/>
          </a:solidFill>
          <a:latin typeface="+mn-lt"/>
          <a:ea typeface="+mn-ea"/>
          <a:cs typeface="+mn-cs"/>
        </a:defRPr>
      </a:lvl1pPr>
      <a:lvl2pPr marL="0" marR="0" indent="0" algn="l" defTabSz="54864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defRPr sz="4250" b="0" i="0" u="none" strike="noStrike" cap="none" spc="-77">
          <a:solidFill>
            <a:srgbClr val="01CF89"/>
          </a:solidFill>
          <a:latin typeface="+mn-lt"/>
          <a:ea typeface="+mn-ea"/>
          <a:cs typeface="+mn-cs"/>
        </a:defRPr>
      </a:lvl2pPr>
      <a:lvl3pPr marL="0" marR="0" indent="0" algn="l" defTabSz="54864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defRPr sz="4250" b="0" i="0" u="none" strike="noStrike" cap="none" spc="-77">
          <a:solidFill>
            <a:srgbClr val="01CF89"/>
          </a:solidFill>
          <a:latin typeface="+mn-lt"/>
          <a:ea typeface="+mn-ea"/>
          <a:cs typeface="+mn-cs"/>
        </a:defRPr>
      </a:lvl3pPr>
      <a:lvl4pPr marL="0" marR="0" indent="0" algn="l" defTabSz="54864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defRPr sz="4250" b="0" i="0" u="none" strike="noStrike" cap="none" spc="-77">
          <a:solidFill>
            <a:srgbClr val="01CF89"/>
          </a:solidFill>
          <a:latin typeface="+mn-lt"/>
          <a:ea typeface="+mn-ea"/>
          <a:cs typeface="+mn-cs"/>
        </a:defRPr>
      </a:lvl4pPr>
      <a:lvl5pPr marL="0" marR="0" indent="0" algn="l" defTabSz="54864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defRPr sz="4250" b="0" i="0" u="none" strike="noStrike" cap="none" spc="-77">
          <a:solidFill>
            <a:srgbClr val="01CF89"/>
          </a:solidFill>
          <a:latin typeface="+mn-lt"/>
          <a:ea typeface="+mn-ea"/>
          <a:cs typeface="+mn-cs"/>
        </a:defRPr>
      </a:lvl5pPr>
      <a:lvl6pPr marL="0" marR="0" indent="0" algn="l" defTabSz="54864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defRPr sz="4250" b="0" i="0" u="none" strike="noStrike" cap="none" spc="-77">
          <a:solidFill>
            <a:srgbClr val="01CF89"/>
          </a:solidFill>
          <a:latin typeface="+mn-lt"/>
          <a:ea typeface="+mn-ea"/>
          <a:cs typeface="+mn-cs"/>
        </a:defRPr>
      </a:lvl6pPr>
      <a:lvl7pPr marL="0" marR="0" indent="0" algn="l" defTabSz="54864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defRPr sz="4250" b="0" i="0" u="none" strike="noStrike" cap="none" spc="-77">
          <a:solidFill>
            <a:srgbClr val="01CF89"/>
          </a:solidFill>
          <a:latin typeface="+mn-lt"/>
          <a:ea typeface="+mn-ea"/>
          <a:cs typeface="+mn-cs"/>
        </a:defRPr>
      </a:lvl7pPr>
      <a:lvl8pPr marL="0" marR="0" indent="0" algn="l" defTabSz="54864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defRPr sz="4250" b="0" i="0" u="none" strike="noStrike" cap="none" spc="-77">
          <a:solidFill>
            <a:srgbClr val="01CF89"/>
          </a:solidFill>
          <a:latin typeface="+mn-lt"/>
          <a:ea typeface="+mn-ea"/>
          <a:cs typeface="+mn-cs"/>
        </a:defRPr>
      </a:lvl8pPr>
      <a:lvl9pPr marL="0" marR="0" indent="0" algn="l" defTabSz="54864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defRPr sz="4250" b="0" i="0" u="none" strike="noStrike" cap="none" spc="-77">
          <a:solidFill>
            <a:srgbClr val="01CF89"/>
          </a:solidFill>
          <a:latin typeface="+mn-lt"/>
          <a:ea typeface="+mn-ea"/>
          <a:cs typeface="+mn-cs"/>
        </a:defRPr>
      </a:lvl9pPr>
    </p:titleStyle>
    <p:bodyStyle>
      <a:lvl1pPr marL="381000" marR="0" indent="-381000" algn="l" defTabSz="495300">
        <a:lnSpc>
          <a:spcPct val="120000"/>
        </a:lnSpc>
        <a:spcBef>
          <a:spcPts val="3540"/>
        </a:spcBef>
        <a:spcAft>
          <a:spcPts val="0"/>
        </a:spcAft>
        <a:buClrTx/>
        <a:buSzPct val="125000"/>
        <a:buFontTx/>
        <a:buChar char="•"/>
        <a:defRPr sz="3100" b="0" i="0" u="none" strike="noStrike" cap="none" spc="0">
          <a:solidFill>
            <a:srgbClr val="000000"/>
          </a:solidFill>
          <a:latin typeface="Asap Regular"/>
          <a:ea typeface="Asap Regular"/>
          <a:cs typeface="Asap Regular"/>
        </a:defRPr>
      </a:lvl1pPr>
      <a:lvl2pPr marL="762000" marR="0" indent="-381000" algn="l" defTabSz="495300">
        <a:lnSpc>
          <a:spcPct val="120000"/>
        </a:lnSpc>
        <a:spcBef>
          <a:spcPts val="3540"/>
        </a:spcBef>
        <a:spcAft>
          <a:spcPts val="0"/>
        </a:spcAft>
        <a:buClrTx/>
        <a:buSzPct val="125000"/>
        <a:buFontTx/>
        <a:buChar char="•"/>
        <a:defRPr sz="3100" b="0" i="0" u="none" strike="noStrike" cap="none" spc="0">
          <a:solidFill>
            <a:srgbClr val="000000"/>
          </a:solidFill>
          <a:latin typeface="Asap Regular"/>
          <a:ea typeface="Asap Regular"/>
          <a:cs typeface="Asap Regular"/>
        </a:defRPr>
      </a:lvl2pPr>
      <a:lvl3pPr marL="1143000" marR="0" indent="-381000" algn="l" defTabSz="495300">
        <a:lnSpc>
          <a:spcPct val="120000"/>
        </a:lnSpc>
        <a:spcBef>
          <a:spcPts val="3540"/>
        </a:spcBef>
        <a:spcAft>
          <a:spcPts val="0"/>
        </a:spcAft>
        <a:buClrTx/>
        <a:buSzPct val="125000"/>
        <a:buFontTx/>
        <a:buChar char="•"/>
        <a:defRPr sz="3100" b="0" i="0" u="none" strike="noStrike" cap="none" spc="0">
          <a:solidFill>
            <a:srgbClr val="000000"/>
          </a:solidFill>
          <a:latin typeface="Asap Regular"/>
          <a:ea typeface="Asap Regular"/>
          <a:cs typeface="Asap Regular"/>
        </a:defRPr>
      </a:lvl3pPr>
      <a:lvl4pPr marL="1524000" marR="0" indent="-381000" algn="l" defTabSz="495300">
        <a:lnSpc>
          <a:spcPct val="120000"/>
        </a:lnSpc>
        <a:spcBef>
          <a:spcPts val="3540"/>
        </a:spcBef>
        <a:spcAft>
          <a:spcPts val="0"/>
        </a:spcAft>
        <a:buClrTx/>
        <a:buSzPct val="125000"/>
        <a:buFontTx/>
        <a:buChar char="•"/>
        <a:defRPr sz="3100" b="0" i="0" u="none" strike="noStrike" cap="none" spc="0">
          <a:solidFill>
            <a:srgbClr val="000000"/>
          </a:solidFill>
          <a:latin typeface="Asap Regular"/>
          <a:ea typeface="Asap Regular"/>
          <a:cs typeface="Asap Regular"/>
        </a:defRPr>
      </a:lvl4pPr>
      <a:lvl5pPr marL="1905000" marR="0" indent="-381000" algn="l" defTabSz="495300">
        <a:lnSpc>
          <a:spcPct val="120000"/>
        </a:lnSpc>
        <a:spcBef>
          <a:spcPts val="3540"/>
        </a:spcBef>
        <a:spcAft>
          <a:spcPts val="0"/>
        </a:spcAft>
        <a:buClrTx/>
        <a:buSzPct val="125000"/>
        <a:buFontTx/>
        <a:buChar char="•"/>
        <a:defRPr sz="3100" b="0" i="0" u="none" strike="noStrike" cap="none" spc="0">
          <a:solidFill>
            <a:srgbClr val="000000"/>
          </a:solidFill>
          <a:latin typeface="Asap Regular"/>
          <a:ea typeface="Asap Regular"/>
          <a:cs typeface="Asap Regular"/>
        </a:defRPr>
      </a:lvl5pPr>
      <a:lvl6pPr marL="2286000" marR="0" indent="-381000" algn="l" defTabSz="495300">
        <a:lnSpc>
          <a:spcPct val="120000"/>
        </a:lnSpc>
        <a:spcBef>
          <a:spcPts val="3540"/>
        </a:spcBef>
        <a:spcAft>
          <a:spcPts val="0"/>
        </a:spcAft>
        <a:buClrTx/>
        <a:buSzPct val="125000"/>
        <a:buFontTx/>
        <a:buChar char="•"/>
        <a:defRPr sz="3100" b="0" i="0" u="none" strike="noStrike" cap="none" spc="0">
          <a:solidFill>
            <a:srgbClr val="000000"/>
          </a:solidFill>
          <a:latin typeface="Asap Regular"/>
          <a:ea typeface="Asap Regular"/>
          <a:cs typeface="Asap Regular"/>
        </a:defRPr>
      </a:lvl6pPr>
      <a:lvl7pPr marL="2667000" marR="0" indent="-381000" algn="l" defTabSz="495300">
        <a:lnSpc>
          <a:spcPct val="120000"/>
        </a:lnSpc>
        <a:spcBef>
          <a:spcPts val="3540"/>
        </a:spcBef>
        <a:spcAft>
          <a:spcPts val="0"/>
        </a:spcAft>
        <a:buClrTx/>
        <a:buSzPct val="125000"/>
        <a:buFontTx/>
        <a:buChar char="•"/>
        <a:defRPr sz="3100" b="0" i="0" u="none" strike="noStrike" cap="none" spc="0">
          <a:solidFill>
            <a:srgbClr val="000000"/>
          </a:solidFill>
          <a:latin typeface="Asap Regular"/>
          <a:ea typeface="Asap Regular"/>
          <a:cs typeface="Asap Regular"/>
        </a:defRPr>
      </a:lvl7pPr>
      <a:lvl8pPr marL="3048000" marR="0" indent="-381000" algn="l" defTabSz="495300">
        <a:lnSpc>
          <a:spcPct val="120000"/>
        </a:lnSpc>
        <a:spcBef>
          <a:spcPts val="3540"/>
        </a:spcBef>
        <a:spcAft>
          <a:spcPts val="0"/>
        </a:spcAft>
        <a:buClrTx/>
        <a:buSzPct val="125000"/>
        <a:buFontTx/>
        <a:buChar char="•"/>
        <a:defRPr sz="3100" b="0" i="0" u="none" strike="noStrike" cap="none" spc="0">
          <a:solidFill>
            <a:srgbClr val="000000"/>
          </a:solidFill>
          <a:latin typeface="Asap Regular"/>
          <a:ea typeface="Asap Regular"/>
          <a:cs typeface="Asap Regular"/>
        </a:defRPr>
      </a:lvl8pPr>
      <a:lvl9pPr marL="3429000" marR="0" indent="-381000" algn="l" defTabSz="495300">
        <a:lnSpc>
          <a:spcPct val="120000"/>
        </a:lnSpc>
        <a:spcBef>
          <a:spcPts val="3540"/>
        </a:spcBef>
        <a:spcAft>
          <a:spcPts val="0"/>
        </a:spcAft>
        <a:buClrTx/>
        <a:buSzPct val="125000"/>
        <a:buFontTx/>
        <a:buChar char="•"/>
        <a:defRPr sz="3100" b="0" i="0" u="none" strike="noStrike" cap="none" spc="0">
          <a:solidFill>
            <a:srgbClr val="000000"/>
          </a:solidFill>
          <a:latin typeface="Asap Regular"/>
          <a:ea typeface="Asap Regular"/>
          <a:cs typeface="Asap Regular"/>
        </a:defRPr>
      </a:lvl9pPr>
    </p:bodyStyle>
    <p:otherStyle>
      <a:lvl1pPr marL="0" marR="0" indent="0" algn="ctr" defTabSz="4953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137160" algn="ctr" defTabSz="4953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274320" algn="ctr" defTabSz="4953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411480" algn="ctr" defTabSz="4953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548640" algn="ctr" defTabSz="4953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685800" algn="ctr" defTabSz="4953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822960" algn="ctr" defTabSz="4953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960120" algn="ctr" defTabSz="4953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1097280" algn="ctr" defTabSz="4953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media1.sv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19.jpg"/><Relationship Id="rId5" Type="http://schemas.openxmlformats.org/officeDocument/2006/relationships/image" Target="../media/image9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5867511" name="Group 3"/>
          <p:cNvGrpSpPr/>
          <p:nvPr/>
        </p:nvGrpSpPr>
        <p:grpSpPr bwMode="auto">
          <a:xfrm>
            <a:off x="0" y="3658846"/>
            <a:ext cx="14634361" cy="1595265"/>
            <a:chOff x="0" y="0"/>
            <a:chExt cx="14634361" cy="1595265"/>
          </a:xfrm>
        </p:grpSpPr>
        <p:sp>
          <p:nvSpPr>
            <p:cNvPr id="2" name="Methodology"/>
            <p:cNvSpPr txBox="1"/>
            <p:nvPr/>
          </p:nvSpPr>
          <p:spPr bwMode="auto">
            <a:xfrm>
              <a:off x="0" y="0"/>
              <a:ext cx="14634361" cy="966575"/>
            </a:xfrm>
            <a:prstGeom prst="rect">
              <a:avLst/>
            </a:prstGeom>
            <a:grpFill/>
            <a:ln w="12700">
              <a:miter lim="400000"/>
            </a:ln>
          </p:spPr>
          <p:txBody>
            <a:bodyPr lIns="30480" tIns="30480" rIns="30480" bIns="30480" anchor="ctr">
              <a:spAutoFit/>
            </a:bodyPr>
            <a:lstStyle/>
            <a:p>
              <a:pPr algn="ctr" defTabSz="548640">
                <a:lnSpc>
                  <a:spcPct val="90000"/>
                </a:lnSpc>
                <a:defRPr sz="16000" spc="-296">
                  <a:solidFill>
                    <a:srgbClr val="01CF89"/>
                  </a:solidFill>
                  <a:latin typeface="+mn-lt"/>
                  <a:ea typeface="+mn-ea"/>
                  <a:cs typeface="+mn-cs"/>
                </a:defRPr>
              </a:pPr>
              <a:r>
                <a:rPr lang="it-IT" sz="6600" b="1">
                  <a:solidFill>
                    <a:schemeClr val="bg1"/>
                  </a:solidFill>
                  <a:latin typeface="+mj-lt"/>
                </a:rPr>
                <a:t>DroidGround</a:t>
              </a:r>
              <a:endParaRPr/>
            </a:p>
          </p:txBody>
        </p:sp>
        <p:sp>
          <p:nvSpPr>
            <p:cNvPr id="3" name="Body Level One…"/>
            <p:cNvSpPr txBox="1"/>
            <p:nvPr/>
          </p:nvSpPr>
          <p:spPr bwMode="auto">
            <a:xfrm flipH="0" flipV="0">
              <a:off x="1040422" y="1066480"/>
              <a:ext cx="12496799" cy="528784"/>
            </a:xfrm>
            <a:prstGeom prst="rect">
              <a:avLst/>
            </a:prstGeom>
            <a:grpFill/>
          </p:spPr>
          <p:txBody>
            <a:bodyPr anchor="t"/>
            <a:lstStyle>
              <a:lvl1pPr marL="0" marR="0" indent="0" algn="ctr" defTabSz="4953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defRPr sz="2400" b="0" i="0" u="none" strike="noStrike" cap="none" spc="0">
                  <a:solidFill>
                    <a:srgbClr val="000000"/>
                  </a:solidFill>
                  <a:latin typeface="Arial"/>
                  <a:ea typeface="Helvetica Neue"/>
                  <a:cs typeface="Helvetica Neue"/>
                </a:defRPr>
              </a:lvl1pPr>
              <a:lvl2pPr marL="0" marR="0" indent="0" algn="ctr" defTabSz="4953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defRPr sz="2000" b="0" i="0" u="none" strike="noStrike" cap="none" spc="0">
                  <a:solidFill>
                    <a:srgbClr val="000000"/>
                  </a:solidFill>
                  <a:latin typeface="Arial"/>
                  <a:ea typeface="Helvetica Neue"/>
                  <a:cs typeface="Helvetica Neue"/>
                </a:defRPr>
              </a:lvl2pPr>
              <a:lvl3pPr marL="0" marR="0" indent="0" algn="ctr" defTabSz="4953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defRPr sz="1800" b="0" i="0" u="none" strike="noStrike" cap="none" spc="0">
                  <a:solidFill>
                    <a:srgbClr val="000000"/>
                  </a:solidFill>
                  <a:latin typeface="Arial"/>
                  <a:ea typeface="Helvetica Neue"/>
                  <a:cs typeface="Helvetica Neue"/>
                </a:defRPr>
              </a:lvl3pPr>
              <a:lvl4pPr marL="0" marR="0" indent="0" algn="ctr" defTabSz="4953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defRPr sz="1800" b="0" i="0" u="none" strike="noStrike" cap="none" spc="0">
                  <a:solidFill>
                    <a:srgbClr val="000000"/>
                  </a:solidFill>
                  <a:latin typeface="Arial"/>
                  <a:ea typeface="Helvetica Neue"/>
                  <a:cs typeface="Helvetica Neue"/>
                </a:defRPr>
              </a:lvl4pPr>
              <a:lvl5pPr marL="0" marR="0" indent="0" algn="ctr" defTabSz="49530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Helvetica Neue"/>
                  <a:cs typeface="Helvetica Neue"/>
                </a:defRPr>
              </a:lvl5pPr>
              <a:lvl6pPr marL="2286000" marR="0" indent="-381000" algn="l" defTabSz="495300">
                <a:lnSpc>
                  <a:spcPct val="120000"/>
                </a:lnSpc>
                <a:spcBef>
                  <a:spcPts val="3540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defRPr sz="3100" b="0" i="0" u="none" strike="noStrike" cap="none" spc="0">
                  <a:solidFill>
                    <a:srgbClr val="000000"/>
                  </a:solidFill>
                  <a:latin typeface="Asap Regular"/>
                  <a:ea typeface="Asap Regular"/>
                  <a:cs typeface="Asap Regular"/>
                </a:defRPr>
              </a:lvl6pPr>
              <a:lvl7pPr marL="2667000" marR="0" indent="-381000" algn="l" defTabSz="495300">
                <a:lnSpc>
                  <a:spcPct val="120000"/>
                </a:lnSpc>
                <a:spcBef>
                  <a:spcPts val="3540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defRPr sz="3100" b="0" i="0" u="none" strike="noStrike" cap="none" spc="0">
                  <a:solidFill>
                    <a:srgbClr val="000000"/>
                  </a:solidFill>
                  <a:latin typeface="Asap Regular"/>
                  <a:ea typeface="Asap Regular"/>
                  <a:cs typeface="Asap Regular"/>
                </a:defRPr>
              </a:lvl7pPr>
              <a:lvl8pPr marL="3048000" marR="0" indent="-381000" algn="l" defTabSz="495300">
                <a:lnSpc>
                  <a:spcPct val="120000"/>
                </a:lnSpc>
                <a:spcBef>
                  <a:spcPts val="3540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defRPr sz="3100" b="0" i="0" u="none" strike="noStrike" cap="none" spc="0">
                  <a:solidFill>
                    <a:srgbClr val="000000"/>
                  </a:solidFill>
                  <a:latin typeface="Asap Regular"/>
                  <a:ea typeface="Asap Regular"/>
                  <a:cs typeface="Asap Regular"/>
                </a:defRPr>
              </a:lvl8pPr>
              <a:lvl9pPr marL="3429000" marR="0" indent="-381000" algn="l" defTabSz="495300">
                <a:lnSpc>
                  <a:spcPct val="120000"/>
                </a:lnSpc>
                <a:spcBef>
                  <a:spcPts val="3540"/>
                </a:spcBef>
                <a:spcAft>
                  <a:spcPts val="0"/>
                </a:spcAft>
                <a:buClrTx/>
                <a:buSzPct val="125000"/>
                <a:buFontTx/>
                <a:buChar char="•"/>
                <a:defRPr sz="3100" b="0" i="0" u="none" strike="noStrike" cap="none" spc="0">
                  <a:solidFill>
                    <a:srgbClr val="000000"/>
                  </a:solidFill>
                  <a:latin typeface="Asap Regular"/>
                  <a:ea typeface="Asap Regular"/>
                  <a:cs typeface="Asap Regular"/>
                </a:defRPr>
              </a:lvl9pPr>
            </a:lstStyle>
            <a:p>
              <a:pPr>
                <a:defRPr/>
              </a:pPr>
              <a:r>
                <a:rPr lang="en-US" sz="2400" b="1" i="0" u="none" strike="noStrike" cap="none" spc="0">
                  <a:ln>
                    <a:noFill/>
                  </a:ln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A flexible playground for Android CTF challenges</a:t>
              </a:r>
              <a:endParaRPr sz="2400" b="1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23035861" name="Body Level One…"/>
          <p:cNvSpPr txBox="1"/>
          <p:nvPr/>
        </p:nvSpPr>
        <p:spPr bwMode="auto">
          <a:xfrm flipH="0" flipV="0">
            <a:off x="1040421" y="6566400"/>
            <a:ext cx="12496799" cy="528783"/>
          </a:xfrm>
          <a:prstGeom prst="rect">
            <a:avLst/>
          </a:prstGeom>
        </p:spPr>
        <p:txBody>
          <a:bodyPr anchor="t"/>
          <a:lstStyle>
            <a:lvl1pPr marL="0" marR="0" indent="0" algn="ctr" defTabSz="495299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1pPr>
            <a:lvl2pPr marL="0" marR="0" indent="0" algn="ctr" defTabSz="495299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Tx/>
              <a:buSzTx/>
              <a:buFontTx/>
              <a:buNone/>
              <a:defRPr sz="20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2pPr>
            <a:lvl3pPr marL="0" marR="0" indent="0" algn="ctr" defTabSz="495299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Tx/>
              <a:buSzTx/>
              <a:buFontTx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3pPr>
            <a:lvl4pPr marL="0" marR="0" indent="0" algn="ctr" defTabSz="495299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Tx/>
              <a:buSzTx/>
              <a:buFontTx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4pPr>
            <a:lvl5pPr marL="0" marR="0" indent="0" algn="ctr" defTabSz="495299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Tx/>
              <a:buSzTx/>
              <a:buFontTx/>
              <a:buNone/>
              <a:defRPr sz="14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5pPr>
            <a:lvl6pPr marL="2286000" marR="0" indent="-380999" algn="l" defTabSz="495299">
              <a:lnSpc>
                <a:spcPct val="120000"/>
              </a:lnSpc>
              <a:spcBef>
                <a:spcPts val="3539"/>
              </a:spcBef>
              <a:spcAft>
                <a:spcPts val="0"/>
              </a:spcAft>
              <a:buClrTx/>
              <a:buSzPct val="125000"/>
              <a:buFontTx/>
              <a:buChar char="•"/>
              <a:defRPr sz="3100" b="0" i="0" u="none" strike="noStrike" cap="none" spc="0">
                <a:solidFill>
                  <a:srgbClr val="000000"/>
                </a:solidFill>
                <a:latin typeface="Asap Regular"/>
                <a:ea typeface="Asap Regular"/>
                <a:cs typeface="Asap Regular"/>
              </a:defRPr>
            </a:lvl6pPr>
            <a:lvl7pPr marL="2666999" marR="0" indent="-380999" algn="l" defTabSz="495299">
              <a:lnSpc>
                <a:spcPct val="120000"/>
              </a:lnSpc>
              <a:spcBef>
                <a:spcPts val="3539"/>
              </a:spcBef>
              <a:spcAft>
                <a:spcPts val="0"/>
              </a:spcAft>
              <a:buClrTx/>
              <a:buSzPct val="125000"/>
              <a:buFontTx/>
              <a:buChar char="•"/>
              <a:defRPr sz="3100" b="0" i="0" u="none" strike="noStrike" cap="none" spc="0">
                <a:solidFill>
                  <a:srgbClr val="000000"/>
                </a:solidFill>
                <a:latin typeface="Asap Regular"/>
                <a:ea typeface="Asap Regular"/>
                <a:cs typeface="Asap Regular"/>
              </a:defRPr>
            </a:lvl7pPr>
            <a:lvl8pPr marL="3047999" marR="0" indent="-380999" algn="l" defTabSz="495299">
              <a:lnSpc>
                <a:spcPct val="120000"/>
              </a:lnSpc>
              <a:spcBef>
                <a:spcPts val="3539"/>
              </a:spcBef>
              <a:spcAft>
                <a:spcPts val="0"/>
              </a:spcAft>
              <a:buClrTx/>
              <a:buSzPct val="125000"/>
              <a:buFontTx/>
              <a:buChar char="•"/>
              <a:defRPr sz="3100" b="0" i="0" u="none" strike="noStrike" cap="none" spc="0">
                <a:solidFill>
                  <a:srgbClr val="000000"/>
                </a:solidFill>
                <a:latin typeface="Asap Regular"/>
                <a:ea typeface="Asap Regular"/>
                <a:cs typeface="Asap Regular"/>
              </a:defRPr>
            </a:lvl8pPr>
            <a:lvl9pPr marL="3429000" marR="0" indent="-380999" algn="l" defTabSz="495299">
              <a:lnSpc>
                <a:spcPct val="120000"/>
              </a:lnSpc>
              <a:spcBef>
                <a:spcPts val="3539"/>
              </a:spcBef>
              <a:spcAft>
                <a:spcPts val="0"/>
              </a:spcAft>
              <a:buClrTx/>
              <a:buSzPct val="125000"/>
              <a:buFontTx/>
              <a:buChar char="•"/>
              <a:defRPr sz="3100" b="0" i="0" u="none" strike="noStrike" cap="none" spc="0">
                <a:solidFill>
                  <a:srgbClr val="000000"/>
                </a:solidFill>
                <a:latin typeface="Asap Regular"/>
                <a:ea typeface="Asap Regular"/>
                <a:cs typeface="Asap Regular"/>
              </a:defRPr>
            </a:lvl9pPr>
          </a:lstStyle>
          <a:p>
            <a:pPr>
              <a:defRPr/>
            </a:pPr>
            <a:r>
              <a:rPr lang="it-IT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Angelo Delicato</a:t>
            </a:r>
            <a:endParaRPr lang="en-US" sz="24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513906235" name="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5618791" y="7239819"/>
            <a:ext cx="3340059" cy="529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451577" name="Fictum, deserunt mollit anim laborum astutumque! Ullamco laboris nisi ut aliquid ex ea commodi consequat. Mercedem aut nummos unde unde extricat, amaras. Sed haec quis possit intrepidus aestimare tellus.…"/>
          <p:cNvSpPr txBox="1"/>
          <p:nvPr/>
        </p:nvSpPr>
        <p:spPr bwMode="auto">
          <a:xfrm rot="0" flipH="0" flipV="0">
            <a:off x="763200" y="3456000"/>
            <a:ext cx="8977928" cy="374483"/>
          </a:xfrm>
          <a:prstGeom prst="rect">
            <a:avLst/>
          </a:prstGeom>
          <a:ln w="12700">
            <a:miter lim="400000"/>
          </a:ln>
        </p:spPr>
        <p:txBody>
          <a:bodyPr vertOverflow="overflow" horzOverflow="overflow" vert="horz" wrap="square" lIns="30479" tIns="30479" rIns="30479" bIns="30479" numCol="1" spcCol="634799" rtlCol="0" fromWordArt="0" anchor="t" anchorCtr="0" forceAA="0" upright="0" compatLnSpc="0"/>
          <a:lstStyle/>
          <a:p>
            <a:pPr defTabSz="548640">
              <a:lnSpc>
                <a:spcPct val="85000"/>
              </a:lnSpc>
              <a:defRPr sz="2400" spc="-44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r>
              <a:rPr lang="it-IT" sz="1600" i="1">
                <a:solidFill>
                  <a:schemeClr val="tx2"/>
                </a:solidFill>
                <a:latin typeface="+mn-lt"/>
              </a:rPr>
              <a:t>Penetration Teste</a:t>
            </a:r>
            <a:r>
              <a:rPr lang="it-IT" sz="1600" i="1">
                <a:solidFill>
                  <a:schemeClr val="tx2"/>
                </a:solidFill>
                <a:latin typeface="Arial"/>
              </a:rPr>
              <a:t>r</a:t>
            </a:r>
            <a:r>
              <a:rPr lang="it-IT" sz="1600">
                <a:solidFill>
                  <a:schemeClr val="tx2"/>
                </a:solidFill>
                <a:latin typeface="Arial"/>
              </a:rPr>
              <a:t> at </a:t>
            </a:r>
            <a:r>
              <a:rPr lang="it-IT" sz="1600" b="1">
                <a:solidFill>
                  <a:schemeClr val="tx2"/>
                </a:solidFill>
                <a:latin typeface="Arial"/>
              </a:rPr>
              <a:t>SECFORCE</a:t>
            </a:r>
            <a:endParaRPr/>
          </a:p>
          <a:p>
            <a:pPr defTabSz="548640">
              <a:lnSpc>
                <a:spcPct val="85000"/>
              </a:lnSpc>
              <a:defRPr sz="2400" spc="-44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endParaRPr sz="1600">
              <a:solidFill>
                <a:schemeClr val="tx2"/>
              </a:solidFill>
              <a:latin typeface="+mn-lt"/>
            </a:endParaRPr>
          </a:p>
          <a:p>
            <a:pPr defTabSz="548640">
              <a:lnSpc>
                <a:spcPct val="85000"/>
              </a:lnSpc>
              <a:defRPr sz="2400" spc="-44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endParaRPr/>
          </a:p>
        </p:txBody>
      </p:sp>
      <p:sp>
        <p:nvSpPr>
          <p:cNvPr id="393239767" name="About"/>
          <p:cNvSpPr txBox="1"/>
          <p:nvPr/>
        </p:nvSpPr>
        <p:spPr bwMode="auto">
          <a:xfrm>
            <a:off x="761999" y="2382120"/>
            <a:ext cx="987256" cy="792839"/>
          </a:xfrm>
          <a:prstGeom prst="rect">
            <a:avLst/>
          </a:prstGeom>
          <a:ln w="12700">
            <a:miter lim="400000"/>
          </a:ln>
        </p:spPr>
        <p:txBody>
          <a:bodyPr wrap="none" lIns="30480" tIns="30480" rIns="30480" bIns="30480" anchor="ctr">
            <a:spAutoFit/>
          </a:bodyPr>
          <a:lstStyle>
            <a:lvl1pPr defTabSz="914400">
              <a:defRPr sz="8000" spc="-148">
                <a:solidFill>
                  <a:srgbClr val="01CF89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it-IT" sz="4800" b="1">
                <a:solidFill>
                  <a:srgbClr val="1A6690"/>
                </a:solidFill>
                <a:latin typeface="+mj-lt"/>
              </a:rPr>
              <a:t>Bio</a:t>
            </a:r>
            <a:endParaRPr sz="4800" b="1">
              <a:solidFill>
                <a:srgbClr val="1A6690"/>
              </a:solidFill>
              <a:latin typeface="+mj-lt"/>
            </a:endParaRPr>
          </a:p>
        </p:txBody>
      </p:sp>
      <p:pic>
        <p:nvPicPr>
          <p:cNvPr id="221992276" name="Image" descr="Image"/>
          <p:cNvPicPr/>
          <p:nvPr/>
        </p:nvPicPr>
        <p:blipFill>
          <a:blip r:embed="rId3"/>
          <a:stretch/>
        </p:blipFill>
        <p:spPr bwMode="auto">
          <a:xfrm flipH="0" flipV="0">
            <a:off x="10370616" y="1647273"/>
            <a:ext cx="3049722" cy="305537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miter lim="400000"/>
          </a:ln>
          <a:effectLst/>
        </p:spPr>
      </p:pic>
      <p:sp>
        <p:nvSpPr>
          <p:cNvPr id="2074904220" name="Fictum, deserunt mollit anim laborum astutumque! Ullamco laboris nisi ut aliquid ex ea commodi consequat. Mercedem aut nummos unde unde extricat, amaras. Sed haec quis possit intrepidus aestimare tellus.…"/>
          <p:cNvSpPr txBox="1"/>
          <p:nvPr/>
        </p:nvSpPr>
        <p:spPr bwMode="auto">
          <a:xfrm rot="0" flipH="0" flipV="0">
            <a:off x="763200" y="3830483"/>
            <a:ext cx="8977928" cy="374482"/>
          </a:xfrm>
          <a:prstGeom prst="rect">
            <a:avLst/>
          </a:prstGeom>
          <a:ln w="12700">
            <a:miter lim="400000"/>
          </a:ln>
        </p:spPr>
        <p:txBody>
          <a:bodyPr vertOverflow="overflow" horzOverflow="overflow" vert="horz" wrap="square" lIns="30479" tIns="30479" rIns="30479" bIns="30479" numCol="1" spcCol="634799" rtlCol="0" fromWordArt="0" anchor="t" anchorCtr="0" forceAA="0" upright="0" compatLnSpc="0"/>
          <a:lstStyle/>
          <a:p>
            <a:pPr defTabSz="548640">
              <a:lnSpc>
                <a:spcPct val="85000"/>
              </a:lnSpc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r>
              <a:rPr lang="it-IT" sz="1600" i="0">
                <a:solidFill>
                  <a:schemeClr val="tx2"/>
                </a:solidFill>
                <a:latin typeface="Arial"/>
              </a:rPr>
              <a:t>Yes, my name means “delicate angel”</a:t>
            </a:r>
            <a:endParaRPr i="0"/>
          </a:p>
          <a:p>
            <a:pPr defTabSz="548640">
              <a:lnSpc>
                <a:spcPct val="85000"/>
              </a:lnSpc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endParaRPr sz="1600">
              <a:solidFill>
                <a:schemeClr val="tx2"/>
              </a:solidFill>
              <a:latin typeface="Arial"/>
            </a:endParaRPr>
          </a:p>
          <a:p>
            <a:pPr defTabSz="548640">
              <a:lnSpc>
                <a:spcPct val="85000"/>
              </a:lnSpc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endParaRPr/>
          </a:p>
        </p:txBody>
      </p:sp>
      <p:sp>
        <p:nvSpPr>
          <p:cNvPr id="1557996370" name="Fictum, deserunt mollit anim laborum astutumque! Ullamco laboris nisi ut aliquid ex ea commodi consequat. Mercedem aut nummos unde unde extricat, amaras. Sed haec quis possit intrepidus aestimare tellus.…"/>
          <p:cNvSpPr txBox="1"/>
          <p:nvPr/>
        </p:nvSpPr>
        <p:spPr bwMode="auto">
          <a:xfrm rot="0" flipH="0" flipV="0">
            <a:off x="763200" y="4204966"/>
            <a:ext cx="8977928" cy="374482"/>
          </a:xfrm>
          <a:prstGeom prst="rect">
            <a:avLst/>
          </a:prstGeom>
          <a:ln w="12700">
            <a:miter lim="400000"/>
          </a:ln>
        </p:spPr>
        <p:txBody>
          <a:bodyPr vertOverflow="overflow" horzOverflow="overflow" vert="horz" wrap="square" lIns="30479" tIns="30479" rIns="30479" bIns="30479" numCol="1" spcCol="634799" rtlCol="0" fromWordArt="0" anchor="t" anchorCtr="0" forceAA="0" upright="0" compatLnSpc="0"/>
          <a:lstStyle/>
          <a:p>
            <a:pPr defTabSz="548640">
              <a:lnSpc>
                <a:spcPct val="85000"/>
              </a:lnSpc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r>
              <a:rPr lang="it-IT" sz="1600" i="0">
                <a:solidFill>
                  <a:schemeClr val="tx2"/>
                </a:solidFill>
                <a:latin typeface="Arial"/>
              </a:rPr>
              <a:t>Yes, it was a difficult childhood</a:t>
            </a:r>
            <a:endParaRPr i="0"/>
          </a:p>
          <a:p>
            <a:pPr defTabSz="548640">
              <a:lnSpc>
                <a:spcPct val="85000"/>
              </a:lnSpc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endParaRPr sz="1600">
              <a:solidFill>
                <a:schemeClr val="tx2"/>
              </a:solidFill>
              <a:latin typeface="Arial"/>
            </a:endParaRPr>
          </a:p>
          <a:p>
            <a:pPr defTabSz="548640">
              <a:lnSpc>
                <a:spcPct val="85000"/>
              </a:lnSpc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endParaRPr/>
          </a:p>
        </p:txBody>
      </p:sp>
      <p:sp>
        <p:nvSpPr>
          <p:cNvPr id="1405973601" name="Fictum, deserunt mollit anim laborum astutumque! Ullamco laboris nisi ut aliquid ex ea commodi consequat. Mercedem aut nummos unde unde extricat, amaras. Sed haec quis possit intrepidus aestimare tellus.…"/>
          <p:cNvSpPr txBox="1"/>
          <p:nvPr/>
        </p:nvSpPr>
        <p:spPr bwMode="auto">
          <a:xfrm rot="0" flipH="0" flipV="0">
            <a:off x="764399" y="4579449"/>
            <a:ext cx="8977928" cy="374482"/>
          </a:xfrm>
          <a:prstGeom prst="rect">
            <a:avLst/>
          </a:prstGeom>
          <a:ln w="12700">
            <a:miter lim="400000"/>
          </a:ln>
        </p:spPr>
        <p:txBody>
          <a:bodyPr vertOverflow="overflow" horzOverflow="overflow" vert="horz" wrap="square" lIns="30479" tIns="30479" rIns="30479" bIns="30479" numCol="1" spcCol="634799" rtlCol="0" fromWordArt="0" anchor="t" anchorCtr="0" forceAA="0" upright="0" compatLnSpc="0"/>
          <a:lstStyle/>
          <a:p>
            <a:pPr defTabSz="548640">
              <a:lnSpc>
                <a:spcPct val="85000"/>
              </a:lnSpc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r>
              <a:rPr lang="it-IT" sz="1600" i="0">
                <a:solidFill>
                  <a:schemeClr val="tx2"/>
                </a:solidFill>
                <a:latin typeface="Arial"/>
              </a:rPr>
              <a:t>Yes, I use it as an icebreaker now</a:t>
            </a:r>
            <a:endParaRPr i="0"/>
          </a:p>
          <a:p>
            <a:pPr defTabSz="548640">
              <a:lnSpc>
                <a:spcPct val="85000"/>
              </a:lnSpc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endParaRPr sz="1600">
              <a:solidFill>
                <a:schemeClr val="tx2"/>
              </a:solidFill>
              <a:latin typeface="Arial"/>
            </a:endParaRPr>
          </a:p>
          <a:p>
            <a:pPr defTabSz="548640">
              <a:lnSpc>
                <a:spcPct val="85000"/>
              </a:lnSpc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endParaRPr/>
          </a:p>
        </p:txBody>
      </p:sp>
      <p:sp>
        <p:nvSpPr>
          <p:cNvPr id="85921333" name="Fictum, deserunt mollit anim laborum astutumque! Ullamco laboris nisi ut aliquid ex ea commodi consequat. Mercedem aut nummos unde unde extricat, amaras. Sed haec quis possit intrepidus aestimare tellus.…"/>
          <p:cNvSpPr txBox="1"/>
          <p:nvPr/>
        </p:nvSpPr>
        <p:spPr bwMode="auto">
          <a:xfrm rot="0" flipH="0" flipV="0">
            <a:off x="764399" y="5662621"/>
            <a:ext cx="11887838" cy="367480"/>
          </a:xfrm>
          <a:prstGeom prst="rect">
            <a:avLst/>
          </a:prstGeom>
          <a:ln w="12700">
            <a:miter lim="400000"/>
          </a:ln>
        </p:spPr>
        <p:txBody>
          <a:bodyPr vertOverflow="overflow" horzOverflow="overflow" vert="horz" wrap="square" lIns="30479" tIns="30479" rIns="30479" bIns="30479" numCol="1" spcCol="634799" rtlCol="0" fromWordArt="0" anchor="t" anchorCtr="0" forceAA="0" upright="0" compatLnSpc="0"/>
          <a:lstStyle/>
          <a:p>
            <a:pPr defTabSz="548640">
              <a:lnSpc>
                <a:spcPct val="150000"/>
              </a:lnSpc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r>
              <a:rPr lang="it-IT" sz="1600" i="0">
                <a:solidFill>
                  <a:schemeClr val="tx2"/>
                </a:solidFill>
                <a:latin typeface="Arial"/>
              </a:rPr>
              <a:t>Always been interested in the Android ecosystem:</a:t>
            </a:r>
            <a:endParaRPr lang="it-IT" sz="1600" i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858644360" name="Fictum, deserunt mollit anim laborum astutumque! Ullamco laboris nisi ut aliquid ex ea commodi consequat. Mercedem aut nummos unde unde extricat, amaras. Sed haec quis possit intrepidus aestimare tellus.…"/>
          <p:cNvSpPr txBox="1"/>
          <p:nvPr/>
        </p:nvSpPr>
        <p:spPr bwMode="auto">
          <a:xfrm rot="0" flipH="0" flipV="0">
            <a:off x="765599" y="6030101"/>
            <a:ext cx="11887837" cy="759409"/>
          </a:xfrm>
          <a:prstGeom prst="rect">
            <a:avLst/>
          </a:prstGeom>
          <a:ln w="12700">
            <a:miter lim="400000"/>
          </a:ln>
        </p:spPr>
        <p:txBody>
          <a:bodyPr vertOverflow="overflow" horzOverflow="overflow" vert="horz" wrap="square" lIns="30479" tIns="30479" rIns="30479" bIns="30479" numCol="1" spcCol="634799" rtlCol="0" fromWordArt="0" anchor="t" anchorCtr="0" forceAA="0" upright="0" compatLnSpc="0"/>
          <a:lstStyle/>
          <a:p>
            <a:pPr marL="261849" indent="-261849" defTabSz="548640">
              <a:lnSpc>
                <a:spcPct val="150000"/>
              </a:lnSpc>
              <a:buClrTx/>
              <a:buSzTx/>
              <a:buFont typeface="Wingdings"/>
              <a:buChar char="w"/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r>
              <a:rPr lang="it-IT" sz="1600" b="0" i="1" u="none" strike="noStrike" cap="none" spc="-43">
                <a:ln>
                  <a:noFill/>
                </a:ln>
                <a:solidFill>
                  <a:schemeClr val="tx2"/>
                </a:solidFill>
                <a:latin typeface="Arial"/>
                <a:ea typeface="Arial"/>
                <a:cs typeface="Arial"/>
              </a:rPr>
              <a:t>Dockerized Android: a container-based platform to build mobile Android scenarios for Cyber Ranges</a:t>
            </a:r>
            <a:r>
              <a:rPr lang="it-IT" sz="1600" i="0">
                <a:solidFill>
                  <a:schemeClr val="tx2"/>
                </a:solidFill>
                <a:latin typeface="Arial"/>
              </a:rPr>
              <a:t> (paper &amp; source code, 2022)</a:t>
            </a:r>
            <a:endParaRPr lang="it-IT" sz="1600" i="0">
              <a:solidFill>
                <a:schemeClr val="tx2"/>
              </a:solidFill>
              <a:latin typeface="Arial"/>
            </a:endParaRPr>
          </a:p>
          <a:p>
            <a:pPr marL="261849" indent="-261849" defTabSz="548640">
              <a:lnSpc>
                <a:spcPct val="150000"/>
              </a:lnSpc>
              <a:buClrTx/>
              <a:buSzTx/>
              <a:buFont typeface="Wingdings"/>
              <a:buChar char="w"/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r>
              <a:rPr lang="it-IT" sz="1600" i="1">
                <a:solidFill>
                  <a:schemeClr val="tx2"/>
                </a:solidFill>
                <a:latin typeface="Arial"/>
              </a:rPr>
              <a:t>Robodroid: m</a:t>
            </a:r>
            <a:r>
              <a:rPr lang="it-IT" sz="1600" b="0" i="1" u="none" strike="noStrike" cap="none" spc="-43">
                <a:ln>
                  <a:noFill/>
                </a:ln>
                <a:solidFill>
                  <a:schemeClr val="tx2"/>
                </a:solidFill>
                <a:latin typeface="Arial"/>
                <a:ea typeface="Arial"/>
                <a:cs typeface="Arial"/>
              </a:rPr>
              <a:t>anage Android machines with pre-defined behaviors for Cyber Range environments</a:t>
            </a:r>
            <a:r>
              <a:rPr lang="it-IT" sz="1600" b="0" i="0" u="none" strike="noStrike" cap="none" spc="-43">
                <a:ln>
                  <a:noFill/>
                </a:ln>
                <a:solidFill>
                  <a:schemeClr val="tx2"/>
                </a:solidFill>
                <a:latin typeface="Arial"/>
                <a:ea typeface="Arial"/>
                <a:cs typeface="Arial"/>
              </a:rPr>
              <a:t>.</a:t>
            </a:r>
            <a:r>
              <a:rPr lang="it-IT" sz="1600" i="0">
                <a:solidFill>
                  <a:schemeClr val="tx2"/>
                </a:solidFill>
                <a:latin typeface="Arial"/>
              </a:rPr>
              <a:t> (source code, 2024)</a:t>
            </a:r>
            <a:endParaRPr lang="it-IT" sz="1600" i="0">
              <a:solidFill>
                <a:schemeClr val="tx2"/>
              </a:solidFill>
              <a:latin typeface="Arial"/>
            </a:endParaRPr>
          </a:p>
          <a:p>
            <a:pPr marL="261849" indent="-261849" defTabSz="548640">
              <a:lnSpc>
                <a:spcPct val="85000"/>
              </a:lnSpc>
              <a:buClrTx/>
              <a:buSzTx/>
              <a:buFont typeface="Wingdings"/>
              <a:buChar char="w"/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endParaRPr lang="it-IT" i="0"/>
          </a:p>
          <a:p>
            <a:pPr defTabSz="548640">
              <a:lnSpc>
                <a:spcPct val="85000"/>
              </a:lnSpc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endParaRPr sz="1600">
              <a:solidFill>
                <a:schemeClr val="tx2"/>
              </a:solidFill>
              <a:latin typeface="Arial"/>
            </a:endParaRPr>
          </a:p>
          <a:p>
            <a:pPr defTabSz="548640">
              <a:lnSpc>
                <a:spcPct val="85000"/>
              </a:lnSpc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endParaRPr/>
          </a:p>
        </p:txBody>
      </p:sp>
      <p:sp>
        <p:nvSpPr>
          <p:cNvPr id="201798836" name="Fictum, deserunt mollit anim laborum astutumque! Ullamco laboris nisi ut aliquid ex ea commodi consequat. Mercedem aut nummos unde unde extricat, amaras. Sed haec quis possit intrepidus aestimare tellus.…"/>
          <p:cNvSpPr txBox="1"/>
          <p:nvPr/>
        </p:nvSpPr>
        <p:spPr bwMode="auto">
          <a:xfrm rot="0" flipH="0" flipV="0">
            <a:off x="761999" y="5172252"/>
            <a:ext cx="8977928" cy="374482"/>
          </a:xfrm>
          <a:prstGeom prst="rect">
            <a:avLst/>
          </a:prstGeom>
          <a:ln w="12700">
            <a:miter lim="400000"/>
          </a:ln>
        </p:spPr>
        <p:txBody>
          <a:bodyPr vertOverflow="overflow" horzOverflow="overflow" vert="horz" wrap="square" lIns="30479" tIns="30479" rIns="30479" bIns="30479" numCol="1" spcCol="634799" rtlCol="0" fromWordArt="0" anchor="t" anchorCtr="0" forceAA="0" upright="0" compatLnSpc="0"/>
          <a:lstStyle/>
          <a:p>
            <a:pPr defTabSz="548640">
              <a:lnSpc>
                <a:spcPct val="85000"/>
              </a:lnSpc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r>
              <a:rPr lang="it-IT" sz="1600" i="0">
                <a:solidFill>
                  <a:schemeClr val="tx2"/>
                </a:solidFill>
                <a:latin typeface="Arial"/>
              </a:rPr>
              <a:t>Mainly focused on web hacking</a:t>
            </a:r>
            <a:endParaRPr lang="it-IT" sz="1600" i="0">
              <a:solidFill>
                <a:schemeClr val="tx2"/>
              </a:solidFill>
              <a:latin typeface="Arial"/>
            </a:endParaRPr>
          </a:p>
        </p:txBody>
      </p:sp>
      <p:pic>
        <p:nvPicPr>
          <p:cNvPr id="2918142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10799989" flipH="1" flipV="0">
            <a:off x="2008467" y="6149074"/>
            <a:ext cx="1883538" cy="1883538"/>
          </a:xfrm>
          <a:prstGeom prst="rect">
            <a:avLst/>
          </a:prstGeom>
        </p:spPr>
      </p:pic>
      <p:sp>
        <p:nvSpPr>
          <p:cNvPr id="1239452889" name="Fictum, deserunt mollit anim laborum astutumque! Ullamco laboris nisi ut aliquid ex ea commodi consequat. Mercedem aut nummos unde unde extricat, amaras. Sed haec quis possit intrepidus aestimare tellus.…"/>
          <p:cNvSpPr txBox="1"/>
          <p:nvPr/>
        </p:nvSpPr>
        <p:spPr bwMode="auto">
          <a:xfrm rot="0" flipH="0" flipV="0">
            <a:off x="3675508" y="7434490"/>
            <a:ext cx="2255619" cy="298170"/>
          </a:xfrm>
          <a:prstGeom prst="rect">
            <a:avLst/>
          </a:prstGeom>
          <a:ln w="12700">
            <a:miter lim="400000"/>
          </a:ln>
        </p:spPr>
        <p:txBody>
          <a:bodyPr vertOverflow="overflow" horzOverflow="overflow" vert="horz" wrap="square" lIns="30479" tIns="30479" rIns="30479" bIns="30479" numCol="1" spcCol="634799" rtlCol="0" fromWordArt="0" anchor="t" anchorCtr="0" forceAA="0" upright="0" compatLnSpc="0"/>
          <a:lstStyle/>
          <a:p>
            <a:pPr defTabSz="548640">
              <a:lnSpc>
                <a:spcPct val="85000"/>
              </a:lnSpc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r>
              <a:rPr lang="it-IT" sz="1600" b="1" i="1">
                <a:solidFill>
                  <a:schemeClr val="tx2"/>
                </a:solidFill>
                <a:latin typeface="Arial"/>
              </a:rPr>
              <a:t>DroidGround</a:t>
            </a:r>
            <a:r>
              <a:rPr lang="it-IT" sz="1600" i="0">
                <a:solidFill>
                  <a:schemeClr val="tx2"/>
                </a:solidFill>
                <a:latin typeface="Arial"/>
              </a:rPr>
              <a:t>’s ancestor</a:t>
            </a:r>
            <a:endParaRPr i="0"/>
          </a:p>
          <a:p>
            <a:pPr defTabSz="548640">
              <a:lnSpc>
                <a:spcPct val="85000"/>
              </a:lnSpc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endParaRPr sz="1600">
              <a:solidFill>
                <a:schemeClr val="tx2"/>
              </a:solidFill>
              <a:latin typeface="Arial"/>
            </a:endParaRPr>
          </a:p>
          <a:p>
            <a:pPr defTabSz="548640">
              <a:lnSpc>
                <a:spcPct val="85000"/>
              </a:lnSpc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endParaRPr/>
          </a:p>
        </p:txBody>
      </p:sp>
      <p:pic>
        <p:nvPicPr>
          <p:cNvPr id="1026604820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1528083" y="4937900"/>
            <a:ext cx="314202" cy="314202"/>
          </a:xfrm>
          <a:prstGeom prst="rect">
            <a:avLst/>
          </a:prstGeom>
        </p:spPr>
      </p:pic>
      <p:sp>
        <p:nvSpPr>
          <p:cNvPr id="20958709" name="Fictum, deserunt mollit anim laborum astutumque! Ullamco laboris nisi ut aliquid ex ea commodi consequat. Mercedem aut nummos unde unde extricat, amaras. Sed haec quis possit intrepidus aestimare tellus.…"/>
          <p:cNvSpPr txBox="1"/>
          <p:nvPr/>
        </p:nvSpPr>
        <p:spPr bwMode="auto">
          <a:xfrm rot="0" flipH="0" flipV="0">
            <a:off x="11895477" y="4953932"/>
            <a:ext cx="2255619" cy="298170"/>
          </a:xfrm>
          <a:prstGeom prst="rect">
            <a:avLst/>
          </a:prstGeom>
          <a:ln w="12700">
            <a:miter lim="400000"/>
          </a:ln>
        </p:spPr>
        <p:txBody>
          <a:bodyPr vertOverflow="overflow" horzOverflow="overflow" vert="horz" wrap="square" lIns="30479" tIns="30479" rIns="30479" bIns="30479" numCol="1" spcCol="634799" rtlCol="0" fromWordArt="0" anchor="t" anchorCtr="0" forceAA="0" upright="0" compatLnSpc="0"/>
          <a:lstStyle/>
          <a:p>
            <a:pPr defTabSz="548640">
              <a:lnSpc>
                <a:spcPct val="85000"/>
              </a:lnSpc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pPr>
            <a:r>
              <a:rPr lang="it-IT" sz="1600" b="0" i="0">
                <a:solidFill>
                  <a:schemeClr val="tx2"/>
                </a:solidFill>
                <a:latin typeface="Arial"/>
              </a:rPr>
              <a:t>thelicato</a:t>
            </a:r>
            <a:endParaRPr b="0" i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45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90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99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97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98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2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64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1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5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718815" name="Methodology"/>
          <p:cNvSpPr txBox="1"/>
          <p:nvPr/>
        </p:nvSpPr>
        <p:spPr bwMode="auto">
          <a:xfrm>
            <a:off x="26375" y="3723039"/>
            <a:ext cx="14637960" cy="966575"/>
          </a:xfrm>
          <a:prstGeom prst="rect">
            <a:avLst/>
          </a:prstGeom>
          <a:ln w="12700">
            <a:miter lim="400000"/>
          </a:ln>
        </p:spPr>
        <p:txBody>
          <a:bodyPr lIns="30479" tIns="30479" rIns="30479" bIns="30479" anchor="ctr">
            <a:spAutoFit/>
          </a:bodyPr>
          <a:lstStyle/>
          <a:p>
            <a:pPr algn="ctr" defTabSz="548640">
              <a:lnSpc>
                <a:spcPct val="90000"/>
              </a:lnSpc>
              <a:defRPr sz="16000" spc="-295">
                <a:solidFill>
                  <a:srgbClr val="01CF89"/>
                </a:solidFill>
                <a:latin typeface="+mn-lt"/>
                <a:ea typeface="+mn-ea"/>
                <a:cs typeface="+mn-cs"/>
              </a:defRPr>
            </a:pPr>
            <a:r>
              <a:rPr lang="it-IT" sz="6600" b="1">
                <a:solidFill>
                  <a:schemeClr val="bg1"/>
                </a:solidFill>
                <a:latin typeface="Arial Black"/>
              </a:rPr>
              <a:t>Agenda</a:t>
            </a:r>
            <a:endParaRPr/>
          </a:p>
        </p:txBody>
      </p:sp>
      <p:sp>
        <p:nvSpPr>
          <p:cNvPr id="446197929" name="Body Level One…"/>
          <p:cNvSpPr txBox="1"/>
          <p:nvPr/>
        </p:nvSpPr>
        <p:spPr bwMode="auto">
          <a:xfrm flipH="0" flipV="0">
            <a:off x="1066798" y="4930596"/>
            <a:ext cx="12496799" cy="2848152"/>
          </a:xfrm>
          <a:prstGeom prst="rect">
            <a:avLst/>
          </a:prstGeom>
        </p:spPr>
        <p:txBody>
          <a:bodyPr anchor="t"/>
          <a:lstStyle>
            <a:lvl1pPr marL="0" marR="0" indent="0" algn="ctr" defTabSz="495299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1pPr>
            <a:lvl2pPr marL="0" marR="0" indent="0" algn="ctr" defTabSz="495299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Tx/>
              <a:buSzTx/>
              <a:buFontTx/>
              <a:buNone/>
              <a:defRPr sz="20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2pPr>
            <a:lvl3pPr marL="0" marR="0" indent="0" algn="ctr" defTabSz="495299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Tx/>
              <a:buSzTx/>
              <a:buFontTx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3pPr>
            <a:lvl4pPr marL="0" marR="0" indent="0" algn="ctr" defTabSz="495299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Tx/>
              <a:buSzTx/>
              <a:buFontTx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4pPr>
            <a:lvl5pPr marL="0" marR="0" indent="0" algn="ctr" defTabSz="495299">
              <a:lnSpc>
                <a:spcPct val="100000"/>
              </a:lnSpc>
              <a:spcBef>
                <a:spcPts val="599"/>
              </a:spcBef>
              <a:spcAft>
                <a:spcPts val="599"/>
              </a:spcAft>
              <a:buClrTx/>
              <a:buSzTx/>
              <a:buFontTx/>
              <a:buNone/>
              <a:defRPr sz="14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5pPr>
            <a:lvl6pPr marL="2286000" marR="0" indent="-380999" algn="l" defTabSz="495299">
              <a:lnSpc>
                <a:spcPct val="120000"/>
              </a:lnSpc>
              <a:spcBef>
                <a:spcPts val="3539"/>
              </a:spcBef>
              <a:spcAft>
                <a:spcPts val="0"/>
              </a:spcAft>
              <a:buClrTx/>
              <a:buSzPct val="125000"/>
              <a:buFontTx/>
              <a:buChar char="•"/>
              <a:defRPr sz="3100" b="0" i="0" u="none" strike="noStrike" cap="none" spc="0">
                <a:solidFill>
                  <a:srgbClr val="000000"/>
                </a:solidFill>
                <a:latin typeface="Asap Regular"/>
                <a:ea typeface="Asap Regular"/>
                <a:cs typeface="Asap Regular"/>
              </a:defRPr>
            </a:lvl6pPr>
            <a:lvl7pPr marL="2666999" marR="0" indent="-380999" algn="l" defTabSz="495299">
              <a:lnSpc>
                <a:spcPct val="120000"/>
              </a:lnSpc>
              <a:spcBef>
                <a:spcPts val="3539"/>
              </a:spcBef>
              <a:spcAft>
                <a:spcPts val="0"/>
              </a:spcAft>
              <a:buClrTx/>
              <a:buSzPct val="125000"/>
              <a:buFontTx/>
              <a:buChar char="•"/>
              <a:defRPr sz="3100" b="0" i="0" u="none" strike="noStrike" cap="none" spc="0">
                <a:solidFill>
                  <a:srgbClr val="000000"/>
                </a:solidFill>
                <a:latin typeface="Asap Regular"/>
                <a:ea typeface="Asap Regular"/>
                <a:cs typeface="Asap Regular"/>
              </a:defRPr>
            </a:lvl7pPr>
            <a:lvl8pPr marL="3047999" marR="0" indent="-380999" algn="l" defTabSz="495299">
              <a:lnSpc>
                <a:spcPct val="120000"/>
              </a:lnSpc>
              <a:spcBef>
                <a:spcPts val="3539"/>
              </a:spcBef>
              <a:spcAft>
                <a:spcPts val="0"/>
              </a:spcAft>
              <a:buClrTx/>
              <a:buSzPct val="125000"/>
              <a:buFontTx/>
              <a:buChar char="•"/>
              <a:defRPr sz="3100" b="0" i="0" u="none" strike="noStrike" cap="none" spc="0">
                <a:solidFill>
                  <a:srgbClr val="000000"/>
                </a:solidFill>
                <a:latin typeface="Asap Regular"/>
                <a:ea typeface="Asap Regular"/>
                <a:cs typeface="Asap Regular"/>
              </a:defRPr>
            </a:lvl8pPr>
            <a:lvl9pPr marL="3429000" marR="0" indent="-380999" algn="l" defTabSz="495299">
              <a:lnSpc>
                <a:spcPct val="120000"/>
              </a:lnSpc>
              <a:spcBef>
                <a:spcPts val="3539"/>
              </a:spcBef>
              <a:spcAft>
                <a:spcPts val="0"/>
              </a:spcAft>
              <a:buClrTx/>
              <a:buSzPct val="125000"/>
              <a:buFontTx/>
              <a:buChar char="•"/>
              <a:defRPr sz="3100" b="0" i="0" u="none" strike="noStrike" cap="none" spc="0">
                <a:solidFill>
                  <a:srgbClr val="000000"/>
                </a:solidFill>
                <a:latin typeface="Asap Regular"/>
                <a:ea typeface="Asap Regular"/>
                <a:cs typeface="Asap Regular"/>
              </a:defRPr>
            </a:lvl9pPr>
          </a:lstStyle>
          <a:p>
            <a:pPr>
              <a:defRPr/>
            </a:pPr>
            <a:r>
              <a:rPr lang="it-IT" sz="2400" b="1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Android &amp; Security</a:t>
            </a:r>
            <a:endParaRPr sz="2400" b="1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it-IT" sz="2400" b="1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cs typeface="Arial"/>
              </a:rPr>
              <a:t>Purpose</a:t>
            </a:r>
            <a:endParaRPr lang="it-IT" sz="2400" b="1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it-IT" sz="2400" b="1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cs typeface="Arial"/>
              </a:rPr>
              <a:t>Architecture</a:t>
            </a:r>
            <a:r>
              <a:rPr lang="it-IT" sz="2400" b="1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cs typeface="Arial"/>
              </a:rPr>
              <a:t> &amp; Features</a:t>
            </a:r>
            <a:endParaRPr lang="it-IT" sz="2400" b="1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it-IT" sz="2400" b="1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🌟</a:t>
            </a:r>
            <a:r>
              <a:rPr lang="it-IT" sz="2400" b="1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cs typeface="Arial"/>
              </a:rPr>
              <a:t> Demo</a:t>
            </a:r>
            <a:r>
              <a:rPr lang="it-IT" sz="2400" b="1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it-IT" sz="2400" b="1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🌟</a:t>
            </a:r>
            <a:endParaRPr lang="it-IT" sz="2400" b="1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it-IT" sz="2400" b="1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Technical Deep Dive</a:t>
            </a:r>
            <a:endParaRPr lang="it-IT" sz="2400" b="1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it-IT" sz="2400" b="1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cs typeface="Arial"/>
              </a:rPr>
              <a:t>What’s Next</a:t>
            </a:r>
            <a:endParaRPr lang="it-IT" sz="2400" b="1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lang="it-IT" sz="2400" b="1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sz="2400" b="1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302044" name="Project…"/>
          <p:cNvSpPr txBox="1"/>
          <p:nvPr/>
        </p:nvSpPr>
        <p:spPr bwMode="auto">
          <a:xfrm>
            <a:off x="746697" y="1605224"/>
            <a:ext cx="12656693" cy="555091"/>
          </a:xfrm>
          <a:prstGeom prst="rect">
            <a:avLst/>
          </a:prstGeom>
          <a:ln w="12700">
            <a:miter lim="400000"/>
          </a:ln>
        </p:spPr>
        <p:txBody>
          <a:bodyPr wrap="square" lIns="30478" tIns="30478" rIns="30478" bIns="30478" anchor="ctr">
            <a:spAutoFit/>
          </a:bodyPr>
          <a:lstStyle/>
          <a:p>
            <a:pPr defTabSz="548640">
              <a:lnSpc>
                <a:spcPct val="90000"/>
              </a:lnSpc>
              <a:defRPr sz="8000" spc="-146">
                <a:solidFill>
                  <a:srgbClr val="01CF89"/>
                </a:solidFill>
                <a:latin typeface="+mn-lt"/>
                <a:ea typeface="+mn-ea"/>
                <a:cs typeface="+mn-cs"/>
              </a:defRPr>
            </a:pPr>
            <a:r>
              <a:rPr lang="it-IT" sz="3600" b="1" i="0" u="none" strike="noStrike" cap="none" spc="-145">
                <a:ln>
                  <a:noFill/>
                </a:ln>
                <a:solidFill>
                  <a:srgbClr val="1A6690"/>
                </a:solidFill>
                <a:latin typeface="Arial Black"/>
                <a:ea typeface="Arial Black"/>
                <a:cs typeface="Arial Black"/>
              </a:rPr>
              <a:t>Context: Mobile Devices Today &amp; Cyber Security</a:t>
            </a:r>
            <a:endParaRPr sz="3600" b="1">
              <a:solidFill>
                <a:srgbClr val="1A6690"/>
              </a:solidFill>
              <a:latin typeface="Arial Black"/>
            </a:endParaRPr>
          </a:p>
        </p:txBody>
      </p:sp>
      <p:sp>
        <p:nvSpPr>
          <p:cNvPr id="2004894465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1995639" y="2704163"/>
            <a:ext cx="10158810" cy="603639"/>
          </a:xfrm>
          <a:prstGeom prst="rect">
            <a:avLst/>
          </a:prstGeom>
          <a:ln w="12700">
            <a:miter lim="400000"/>
          </a:ln>
        </p:spPr>
        <p:txBody>
          <a:bodyPr lIns="30477" tIns="30477" rIns="30477" bIns="30477"/>
          <a:lstStyle>
            <a:lvl1pPr defTabSz="914400">
              <a:defRPr sz="2400" spc="-41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200" b="1" i="0" u="none" strike="noStrike" cap="none" spc="-41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~4.88 Billion</a:t>
            </a:r>
            <a:r>
              <a:rPr lang="it-IT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smartphone users in the world as of 2024</a:t>
            </a:r>
            <a:endParaRPr sz="22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37030453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1141178" y="3563850"/>
            <a:ext cx="11853333" cy="603639"/>
          </a:xfrm>
          <a:prstGeom prst="rect">
            <a:avLst/>
          </a:prstGeom>
          <a:ln w="12700">
            <a:miter lim="400000"/>
          </a:ln>
        </p:spPr>
        <p:txBody>
          <a:bodyPr lIns="30477" tIns="30477" rIns="30477" bIns="30477"/>
          <a:lstStyle>
            <a:lvl1pPr defTabSz="914400">
              <a:defRPr sz="2400" spc="-41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200" b="0" i="0" u="none" strike="noStrike" cap="none" spc="-41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About 70% of them are Android devices (</a:t>
            </a:r>
            <a:r>
              <a:rPr lang="it-IT" sz="2200" b="0">
                <a:solidFill>
                  <a:schemeClr val="tx1"/>
                </a:solidFill>
                <a:latin typeface="Arial"/>
                <a:cs typeface="Arial"/>
              </a:rPr>
              <a:t> ~</a:t>
            </a:r>
            <a:r>
              <a:rPr lang="it-IT" sz="2200" b="1">
                <a:solidFill>
                  <a:schemeClr val="tx1"/>
                </a:solidFill>
                <a:latin typeface="Arial"/>
                <a:cs typeface="Arial"/>
              </a:rPr>
              <a:t>3.41 billion</a:t>
            </a:r>
            <a:r>
              <a:rPr lang="it-IT" sz="2200" b="0">
                <a:solidFill>
                  <a:schemeClr val="tx1"/>
                </a:solidFill>
                <a:latin typeface="Arial"/>
                <a:cs typeface="Arial"/>
              </a:rPr>
              <a:t>)</a:t>
            </a:r>
            <a:endParaRPr sz="2200" b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377650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rot="5399977" flipH="0" flipV="0">
            <a:off x="6184961" y="3915550"/>
            <a:ext cx="1780167" cy="2458063"/>
          </a:xfrm>
          <a:prstGeom prst="rect">
            <a:avLst/>
          </a:prstGeom>
        </p:spPr>
      </p:pic>
      <p:sp>
        <p:nvSpPr>
          <p:cNvPr id="1995002950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1148378" y="6917268"/>
            <a:ext cx="11853333" cy="603639"/>
          </a:xfrm>
          <a:prstGeom prst="rect">
            <a:avLst/>
          </a:prstGeom>
          <a:ln w="12700">
            <a:miter lim="400000"/>
          </a:ln>
        </p:spPr>
        <p:txBody>
          <a:bodyPr lIns="30477" tIns="30477" rIns="30477" bIns="30477"/>
          <a:lstStyle>
            <a:lvl1pPr defTabSz="914400">
              <a:defRPr sz="2400" spc="-41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200" b="0" i="0" u="none" strike="noStrike" cap="none" spc="-41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One of the biggest threats to security</a:t>
            </a:r>
            <a:endParaRPr sz="2200" b="0" i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68187534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37020" y="4254506"/>
            <a:ext cx="4059123" cy="2613169"/>
          </a:xfrm>
          <a:prstGeom prst="rect">
            <a:avLst/>
          </a:prstGeom>
        </p:spPr>
      </p:pic>
      <p:pic>
        <p:nvPicPr>
          <p:cNvPr id="82882389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095611" y="2704163"/>
            <a:ext cx="476224" cy="476224"/>
          </a:xfrm>
          <a:prstGeom prst="rect">
            <a:avLst/>
          </a:prstGeom>
        </p:spPr>
      </p:pic>
      <p:pic>
        <p:nvPicPr>
          <p:cNvPr id="257084973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792867" y="6352913"/>
            <a:ext cx="564354" cy="564354"/>
          </a:xfrm>
          <a:prstGeom prst="rect">
            <a:avLst/>
          </a:prstGeom>
        </p:spPr>
      </p:pic>
      <p:pic>
        <p:nvPicPr>
          <p:cNvPr id="1867881378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3140210" y="3513276"/>
            <a:ext cx="387026" cy="476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82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4894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87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88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03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65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84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00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150418" name="Project…"/>
          <p:cNvSpPr txBox="1"/>
          <p:nvPr/>
        </p:nvSpPr>
        <p:spPr bwMode="auto">
          <a:xfrm>
            <a:off x="746697" y="1610803"/>
            <a:ext cx="12667852" cy="555091"/>
          </a:xfrm>
          <a:prstGeom prst="rect">
            <a:avLst/>
          </a:prstGeom>
          <a:ln w="12700">
            <a:miter lim="400000"/>
          </a:ln>
        </p:spPr>
        <p:txBody>
          <a:bodyPr wrap="square" lIns="30477" tIns="30477" rIns="30477" bIns="30477" anchor="ctr">
            <a:spAutoFit/>
          </a:bodyPr>
          <a:lstStyle/>
          <a:p>
            <a:pPr defTabSz="548640">
              <a:lnSpc>
                <a:spcPct val="90000"/>
              </a:lnSpc>
              <a:defRPr sz="8000" spc="-145">
                <a:solidFill>
                  <a:srgbClr val="01CF89"/>
                </a:solidFill>
                <a:latin typeface="+mn-lt"/>
                <a:ea typeface="+mn-ea"/>
                <a:cs typeface="+mn-cs"/>
              </a:defRPr>
            </a:pPr>
            <a:r>
              <a:rPr lang="it-IT" sz="3600" b="1" i="0" u="none" strike="noStrike" cap="none" spc="-145">
                <a:ln>
                  <a:noFill/>
                </a:ln>
                <a:solidFill>
                  <a:srgbClr val="1A6690"/>
                </a:solidFill>
                <a:latin typeface="Arial Black"/>
                <a:ea typeface="Arial Black"/>
                <a:cs typeface="Arial Black"/>
              </a:rPr>
              <a:t>Some stats</a:t>
            </a:r>
            <a:endParaRPr sz="3600" b="1">
              <a:solidFill>
                <a:srgbClr val="1A6690"/>
              </a:solidFill>
              <a:latin typeface="Arial Black"/>
            </a:endParaRPr>
          </a:p>
        </p:txBody>
      </p:sp>
      <p:sp>
        <p:nvSpPr>
          <p:cNvPr id="1541484029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2030013" y="2907521"/>
            <a:ext cx="10158809" cy="6036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2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6.3% </a:t>
            </a:r>
            <a:r>
              <a:rPr lang="it-IT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of smartphones had a malicious app installed</a:t>
            </a:r>
            <a:r>
              <a:rPr lang="it-IT" sz="2200" b="0">
                <a:solidFill>
                  <a:schemeClr val="tx1"/>
                </a:solidFill>
                <a:latin typeface="Arial"/>
                <a:cs typeface="Arial"/>
              </a:rPr>
              <a:t> (2024)</a:t>
            </a:r>
            <a:endParaRPr sz="22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6600691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1175553" y="3511160"/>
            <a:ext cx="11853333" cy="6036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2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70%</a:t>
            </a:r>
            <a:r>
              <a:rPr lang="it-IT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of online fraud is accomplished through mobile platforms</a:t>
            </a:r>
            <a:r>
              <a:rPr lang="it-IT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(2024)</a:t>
            </a:r>
            <a:endParaRPr sz="22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9889079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1175553" y="4114800"/>
            <a:ext cx="11853333" cy="6036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2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83% </a:t>
            </a:r>
            <a:r>
              <a:rPr lang="it-IT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of phishing sites specifically targeted mobile devices</a:t>
            </a:r>
            <a:r>
              <a:rPr lang="it-IT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(2024)</a:t>
            </a:r>
            <a:endParaRPr sz="22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0024387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1175553" y="4718438"/>
            <a:ext cx="11853333" cy="6036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2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31% </a:t>
            </a:r>
            <a:r>
              <a:rPr lang="it-IT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of devices had out-of-date operating systems in Q3 2024</a:t>
            </a:r>
            <a:endParaRPr sz="22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83821927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1415709" y="6529356"/>
            <a:ext cx="11853333" cy="6036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2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Pwn2Own</a:t>
            </a:r>
            <a:r>
              <a:rPr lang="it-IT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’s</a:t>
            </a:r>
            <a:r>
              <a:rPr lang="it-IT" sz="22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recent results (</a:t>
            </a:r>
            <a:r>
              <a:rPr lang="it-IT" sz="2200" b="0" i="1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Samsung Galaxy S25</a:t>
            </a:r>
            <a:r>
              <a:rPr lang="it-IT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RCE + withdrawn </a:t>
            </a:r>
            <a:r>
              <a:rPr lang="it-IT" sz="2200" b="0" i="1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WhatsApp</a:t>
            </a:r>
            <a:r>
              <a:rPr lang="it-IT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0-click RCE)</a:t>
            </a:r>
            <a:endParaRPr sz="22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010306744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1415709" y="5322077"/>
            <a:ext cx="11853333" cy="6036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2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Mobile malware</a:t>
            </a:r>
            <a:r>
              <a:rPr lang="it-IT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jumping by </a:t>
            </a:r>
            <a:r>
              <a:rPr lang="it-IT" sz="22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151</a:t>
            </a:r>
            <a:r>
              <a:rPr lang="it-IT" sz="22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%</a:t>
            </a:r>
            <a:r>
              <a:rPr lang="it-IT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since start of year</a:t>
            </a:r>
            <a:endParaRPr sz="22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845817059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1650044" y="5925716"/>
            <a:ext cx="11853333" cy="6036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2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Google </a:t>
            </a:r>
            <a:r>
              <a:rPr lang="it-IT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increasing bug bounty rewards for Android + sponsoring </a:t>
            </a:r>
            <a:r>
              <a:rPr lang="it-IT" sz="2200" b="0" i="1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HexTree </a:t>
            </a:r>
            <a:r>
              <a:rPr lang="it-IT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course</a:t>
            </a:r>
            <a:endParaRPr sz="2200" b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48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2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030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1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82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429913" name="Project…"/>
          <p:cNvSpPr txBox="1"/>
          <p:nvPr/>
        </p:nvSpPr>
        <p:spPr bwMode="auto">
          <a:xfrm>
            <a:off x="746697" y="1619982"/>
            <a:ext cx="12686211" cy="555091"/>
          </a:xfrm>
          <a:prstGeom prst="rect">
            <a:avLst/>
          </a:prstGeom>
          <a:ln w="12700">
            <a:miter lim="400000"/>
          </a:ln>
        </p:spPr>
        <p:txBody>
          <a:bodyPr wrap="square" lIns="30477" tIns="30477" rIns="30477" bIns="30477" anchor="ctr">
            <a:spAutoFit/>
          </a:bodyPr>
          <a:lstStyle/>
          <a:p>
            <a:pPr defTabSz="548640">
              <a:lnSpc>
                <a:spcPct val="90000"/>
              </a:lnSpc>
              <a:defRPr sz="8000" spc="-145">
                <a:solidFill>
                  <a:srgbClr val="01CF89"/>
                </a:solidFill>
                <a:latin typeface="+mn-lt"/>
                <a:ea typeface="+mn-ea"/>
                <a:cs typeface="+mn-cs"/>
              </a:defRPr>
            </a:pPr>
            <a:r>
              <a:rPr lang="it-IT" sz="3600" b="1" i="0" u="none" strike="noStrike" cap="none" spc="-145">
                <a:ln>
                  <a:noFill/>
                </a:ln>
                <a:solidFill>
                  <a:srgbClr val="1A6690"/>
                </a:solidFill>
                <a:latin typeface="Arial Black"/>
                <a:ea typeface="Arial Black"/>
                <a:cs typeface="Arial Black"/>
              </a:rPr>
              <a:t>Totally different kind of vulnerabilities</a:t>
            </a:r>
            <a:endParaRPr sz="3600" b="1">
              <a:solidFill>
                <a:srgbClr val="1A6690"/>
              </a:solidFill>
              <a:latin typeface="Arial Black"/>
            </a:endParaRPr>
          </a:p>
        </p:txBody>
      </p:sp>
      <p:sp>
        <p:nvSpPr>
          <p:cNvPr id="219782595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20809540" flipH="0" flipV="0">
            <a:off x="2337270" y="3071391"/>
            <a:ext cx="2692567" cy="6036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Binder</a:t>
            </a:r>
            <a:endParaRPr sz="2800"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50933015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477159" flipH="0" flipV="0">
            <a:off x="4677338" y="5548565"/>
            <a:ext cx="2692566" cy="6036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Intents</a:t>
            </a:r>
            <a:endParaRPr sz="2800"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643751454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20841271" flipH="0" flipV="0">
            <a:off x="5858883" y="2852687"/>
            <a:ext cx="2991583" cy="6036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Pending Intents</a:t>
            </a:r>
            <a:endParaRPr sz="2800"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41658482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1571119" flipH="0" flipV="0">
            <a:off x="6227127" y="4557911"/>
            <a:ext cx="2991582" cy="6036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WebViews</a:t>
            </a:r>
            <a:endParaRPr sz="2800"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80510959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20476216" flipH="0" flipV="0">
            <a:off x="1963150" y="4782425"/>
            <a:ext cx="2991582" cy="6036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Sandbox bypass</a:t>
            </a:r>
            <a:endParaRPr sz="2800"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53801220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458148" flipH="0" flipV="0">
            <a:off x="6832695" y="6538167"/>
            <a:ext cx="2991582" cy="926162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Content Providers</a:t>
            </a:r>
            <a:endParaRPr sz="2800"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63487300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1375373" flipH="0" flipV="0">
            <a:off x="9123135" y="4168684"/>
            <a:ext cx="2991582" cy="6036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Permissions</a:t>
            </a:r>
            <a:endParaRPr sz="2800"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75461342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0" flipH="0" flipV="0">
            <a:off x="2658448" y="6741220"/>
            <a:ext cx="2692566" cy="6036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Activities</a:t>
            </a:r>
            <a:endParaRPr sz="2800"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10313116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21032203" flipH="0" flipV="0">
            <a:off x="10383247" y="6045040"/>
            <a:ext cx="2991582" cy="926161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Broadcast Receivers</a:t>
            </a:r>
            <a:endParaRPr sz="2800"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60240641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845960" flipH="0" flipV="0">
            <a:off x="9871981" y="3308100"/>
            <a:ext cx="2991582" cy="6036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Services</a:t>
            </a:r>
            <a:endParaRPr sz="2800" b="1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8462956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20755705" flipH="0" flipV="0">
            <a:off x="8376757" y="5309590"/>
            <a:ext cx="2991582" cy="512826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8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TWAs</a:t>
            </a:r>
            <a:endParaRPr sz="2800" b="1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65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510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48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78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93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75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46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240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80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6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254625" name="Project…"/>
          <p:cNvSpPr txBox="1"/>
          <p:nvPr/>
        </p:nvSpPr>
        <p:spPr bwMode="auto">
          <a:xfrm>
            <a:off x="746697" y="1598203"/>
            <a:ext cx="12642653" cy="555093"/>
          </a:xfrm>
          <a:prstGeom prst="rect">
            <a:avLst/>
          </a:prstGeom>
          <a:ln w="12700">
            <a:miter lim="400000"/>
          </a:ln>
        </p:spPr>
        <p:txBody>
          <a:bodyPr wrap="square" lIns="30477" tIns="30477" rIns="30477" bIns="30477" anchor="ctr">
            <a:spAutoFit/>
          </a:bodyPr>
          <a:lstStyle/>
          <a:p>
            <a:pPr defTabSz="548640">
              <a:lnSpc>
                <a:spcPct val="90000"/>
              </a:lnSpc>
              <a:defRPr sz="8000" spc="-145">
                <a:solidFill>
                  <a:srgbClr val="01CF89"/>
                </a:solidFill>
                <a:latin typeface="+mn-lt"/>
                <a:ea typeface="+mn-ea"/>
                <a:cs typeface="+mn-cs"/>
              </a:defRPr>
            </a:pPr>
            <a:r>
              <a:rPr lang="it-IT" sz="3600" b="1">
                <a:solidFill>
                  <a:srgbClr val="1A6690"/>
                </a:solidFill>
                <a:latin typeface="Arial Black"/>
              </a:rPr>
              <a:t>Why DroidGround?</a:t>
            </a:r>
            <a:endParaRPr sz="3600" b="1">
              <a:solidFill>
                <a:srgbClr val="1A6690"/>
              </a:solidFill>
              <a:latin typeface="Arial Black"/>
            </a:endParaRPr>
          </a:p>
        </p:txBody>
      </p:sp>
      <p:sp>
        <p:nvSpPr>
          <p:cNvPr id="935968504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1988439" y="2560775"/>
            <a:ext cx="10158809" cy="6036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en-GB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Classic CTF </a:t>
            </a:r>
            <a:r>
              <a:rPr lang="it-IT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Android </a:t>
            </a:r>
            <a:r>
              <a:rPr lang="en-GB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challenges are mostly static </a:t>
            </a:r>
            <a:r>
              <a:rPr lang="en-GB" sz="22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reverse </a:t>
            </a:r>
            <a:r>
              <a:rPr lang="en-GB" sz="22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engineering </a:t>
            </a:r>
            <a:r>
              <a:rPr lang="en-GB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of an APK.</a:t>
            </a:r>
            <a:endParaRPr sz="22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64176275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1141178" y="3164415"/>
            <a:ext cx="11853333" cy="6036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en-GB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Real runtime exploitation (</a:t>
            </a:r>
            <a:r>
              <a:rPr lang="en-GB" sz="22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RCE</a:t>
            </a:r>
            <a:r>
              <a:rPr lang="en-GB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, </a:t>
            </a:r>
            <a:r>
              <a:rPr lang="en-GB" sz="22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IPC </a:t>
            </a:r>
            <a:r>
              <a:rPr lang="en-GB" sz="22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abuse</a:t>
            </a:r>
            <a:r>
              <a:rPr lang="en-GB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, </a:t>
            </a:r>
            <a:r>
              <a:rPr lang="en-GB" sz="22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intent abuse</a:t>
            </a:r>
            <a:r>
              <a:rPr lang="en-GB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, etc.) is hard to host</a:t>
            </a:r>
            <a:r>
              <a:rPr lang="it-IT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sz="2200" b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79190795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1293579" y="3768054"/>
            <a:ext cx="11853333" cy="6036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en-GB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Organizers also want control</a:t>
            </a:r>
            <a:r>
              <a:rPr lang="it-IT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and be able to</a:t>
            </a:r>
            <a:r>
              <a:rPr lang="en-GB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GB" sz="2200" b="1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force the intended path</a:t>
            </a:r>
            <a:r>
              <a:rPr lang="en-GB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to get the flag.</a:t>
            </a:r>
            <a:endParaRPr sz="2200" b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14384225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rot="5399943" flipH="0" flipV="0">
            <a:off x="6177773" y="3915550"/>
            <a:ext cx="1780166" cy="2458062"/>
          </a:xfrm>
          <a:prstGeom prst="rect">
            <a:avLst/>
          </a:prstGeom>
        </p:spPr>
      </p:pic>
      <p:sp>
        <p:nvSpPr>
          <p:cNvPr id="1258020448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1141178" y="6502788"/>
            <a:ext cx="11853333" cy="603639"/>
          </a:xfrm>
          <a:prstGeom prst="rect">
            <a:avLst/>
          </a:prstGeom>
          <a:ln w="12700">
            <a:miter lim="400000"/>
          </a:ln>
        </p:spPr>
        <p:txBody>
          <a:bodyPr lIns="30476" tIns="30476" rIns="30476" bIns="30476"/>
          <a:lstStyle>
            <a:lvl1pPr defTabSz="914400">
              <a:defRPr sz="2400" spc="-40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en-GB" sz="2200" b="0" i="1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DroidGround </a:t>
            </a:r>
            <a:r>
              <a:rPr lang="en-GB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solves this by providing a </a:t>
            </a:r>
            <a:r>
              <a:rPr lang="it-IT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flexible and </a:t>
            </a:r>
            <a:r>
              <a:rPr lang="en-GB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controlled</a:t>
            </a:r>
            <a:r>
              <a:rPr lang="it-IT" sz="2200" b="0" i="0" u="none" strike="noStrike" cap="none" spc="-4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access to an Android target</a:t>
            </a:r>
            <a:endParaRPr sz="2200" b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68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17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190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4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02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779517" name="Project…"/>
          <p:cNvSpPr txBox="1"/>
          <p:nvPr/>
        </p:nvSpPr>
        <p:spPr bwMode="auto">
          <a:xfrm>
            <a:off x="746698" y="1608283"/>
            <a:ext cx="12662813" cy="555093"/>
          </a:xfrm>
          <a:prstGeom prst="rect">
            <a:avLst/>
          </a:prstGeom>
          <a:ln w="12700">
            <a:miter lim="400000"/>
          </a:ln>
        </p:spPr>
        <p:txBody>
          <a:bodyPr wrap="square" lIns="30478" tIns="30478" rIns="30478" bIns="30478" anchor="ctr">
            <a:spAutoFit/>
          </a:bodyPr>
          <a:lstStyle/>
          <a:p>
            <a:pPr defTabSz="548640">
              <a:lnSpc>
                <a:spcPct val="90000"/>
              </a:lnSpc>
              <a:defRPr sz="8000" spc="-146">
                <a:solidFill>
                  <a:srgbClr val="01CF89"/>
                </a:solidFill>
                <a:latin typeface="+mn-lt"/>
                <a:ea typeface="+mn-ea"/>
                <a:cs typeface="+mn-cs"/>
              </a:defRPr>
            </a:pPr>
            <a:r>
              <a:rPr lang="it-IT" sz="3600" b="1">
                <a:solidFill>
                  <a:srgbClr val="1A6690"/>
                </a:solidFill>
                <a:latin typeface="Arial Black"/>
              </a:rPr>
              <a:t>What DroidGround is</a:t>
            </a:r>
            <a:endParaRPr sz="3600" b="1">
              <a:solidFill>
                <a:srgbClr val="1A6690"/>
              </a:solidFill>
              <a:latin typeface="Arial Black"/>
            </a:endParaRPr>
          </a:p>
        </p:txBody>
      </p:sp>
      <p:sp>
        <p:nvSpPr>
          <p:cNvPr id="1269614247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1988439" y="2560776"/>
            <a:ext cx="10158808" cy="1386806"/>
          </a:xfrm>
          <a:prstGeom prst="rect">
            <a:avLst/>
          </a:prstGeom>
          <a:ln w="12700">
            <a:miter lim="400000"/>
          </a:ln>
        </p:spPr>
        <p:txBody>
          <a:bodyPr lIns="30477" tIns="30477" rIns="30477" bIns="30477"/>
          <a:lstStyle>
            <a:lvl1pPr defTabSz="914400">
              <a:defRPr sz="2400" spc="-41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lnSpc>
                <a:spcPct val="114999"/>
              </a:lnSpc>
              <a:defRPr/>
            </a:pPr>
            <a:r>
              <a:rPr lang="it-IT" sz="2200" b="0" i="0" u="none" strike="noStrike" cap="none" spc="-41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DroidGround is an </a:t>
            </a:r>
            <a:r>
              <a:rPr lang="it-IT" sz="2200" b="1" i="1" u="none" strike="noStrike" cap="none" spc="-41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enabler </a:t>
            </a:r>
            <a:r>
              <a:rPr lang="it-IT" sz="2200" b="0" i="0" u="none" strike="noStrike" cap="none" spc="-41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that makes it practical to host live, runtime Android exploitation challenges, letting organizers present bugs that only manifest on a running device instead of static APK puzzles.</a:t>
            </a:r>
            <a:endParaRPr sz="2200" b="0" i="1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4249443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rot="8099983" flipH="0" flipV="0">
            <a:off x="5765203" y="4063717"/>
            <a:ext cx="1780167" cy="2458063"/>
          </a:xfrm>
          <a:prstGeom prst="rect">
            <a:avLst/>
          </a:prstGeom>
        </p:spPr>
      </p:pic>
      <p:sp>
        <p:nvSpPr>
          <p:cNvPr id="1571132055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5705080" y="4227371"/>
            <a:ext cx="3220237" cy="603639"/>
          </a:xfrm>
          <a:prstGeom prst="rect">
            <a:avLst/>
          </a:prstGeom>
          <a:ln w="12700">
            <a:miter lim="400000"/>
          </a:ln>
        </p:spPr>
        <p:txBody>
          <a:bodyPr lIns="30477" tIns="30477" rIns="30477" bIns="30477"/>
          <a:lstStyle>
            <a:lvl1pPr defTabSz="914400">
              <a:defRPr sz="2400" spc="-41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defRPr/>
            </a:pPr>
            <a:r>
              <a:rPr lang="it-IT" sz="2200" b="0" i="0" u="none" strike="noStrike" cap="none" spc="-41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The benefits?</a:t>
            </a:r>
            <a:endParaRPr sz="2200" b="0" i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16259182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rot="2699971" flipH="0" flipV="1">
            <a:off x="7023973" y="4063697"/>
            <a:ext cx="1780167" cy="2458063"/>
          </a:xfrm>
          <a:prstGeom prst="rect">
            <a:avLst/>
          </a:prstGeom>
        </p:spPr>
      </p:pic>
      <p:sp>
        <p:nvSpPr>
          <p:cNvPr id="1838295967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3117586" y="6296693"/>
            <a:ext cx="3298029" cy="713439"/>
          </a:xfrm>
          <a:prstGeom prst="rect">
            <a:avLst/>
          </a:prstGeom>
          <a:ln w="12700">
            <a:miter lim="400000"/>
          </a:ln>
        </p:spPr>
        <p:txBody>
          <a:bodyPr lIns="30477" tIns="30477" rIns="30477" bIns="30477"/>
          <a:lstStyle>
            <a:lvl1pPr defTabSz="914400">
              <a:defRPr sz="2400" spc="-41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>
              <a:lnSpc>
                <a:spcPct val="114999"/>
              </a:lnSpc>
              <a:defRPr/>
            </a:pPr>
            <a:r>
              <a:rPr lang="it-IT" sz="1800" b="0" i="0" u="none" strike="noStrike" cap="none" spc="-41">
                <a:ln>
                  <a:noFill/>
                </a:ln>
                <a:solidFill>
                  <a:schemeClr val="tx2"/>
                </a:solidFill>
                <a:latin typeface="Arial"/>
                <a:ea typeface="Arial"/>
                <a:cs typeface="Arial"/>
              </a:rPr>
              <a:t>Teaches </a:t>
            </a:r>
            <a:r>
              <a:rPr lang="it-IT" sz="1800" b="1" i="0" u="none" strike="noStrike" cap="none" spc="-41">
                <a:ln>
                  <a:noFill/>
                </a:ln>
                <a:solidFill>
                  <a:schemeClr val="tx2"/>
                </a:solidFill>
                <a:latin typeface="Arial"/>
                <a:ea typeface="Arial"/>
                <a:cs typeface="Arial"/>
              </a:rPr>
              <a:t>realistic </a:t>
            </a:r>
            <a:r>
              <a:rPr lang="it-IT" sz="1800" b="0" i="0" u="none" strike="noStrike" cap="none" spc="-41">
                <a:ln>
                  <a:noFill/>
                </a:ln>
                <a:solidFill>
                  <a:schemeClr val="tx2"/>
                </a:solidFill>
                <a:latin typeface="Arial"/>
                <a:ea typeface="Arial"/>
                <a:cs typeface="Arial"/>
              </a:rPr>
              <a:t>exploitation workflows</a:t>
            </a:r>
            <a:endParaRPr sz="1800" b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369540898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8153730" y="6296673"/>
            <a:ext cx="3298029" cy="1122222"/>
          </a:xfrm>
          <a:prstGeom prst="rect">
            <a:avLst/>
          </a:prstGeom>
          <a:ln w="12700">
            <a:miter lim="400000"/>
          </a:ln>
        </p:spPr>
        <p:txBody>
          <a:bodyPr lIns="30477" tIns="30477" rIns="30477" bIns="30477"/>
          <a:lstStyle>
            <a:lvl1pPr defTabSz="914400">
              <a:defRPr sz="2400" spc="-41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>
              <a:lnSpc>
                <a:spcPct val="114999"/>
              </a:lnSpc>
              <a:defRPr/>
            </a:pPr>
            <a:r>
              <a:rPr lang="it-IT" sz="1800" b="0">
                <a:solidFill>
                  <a:schemeClr val="tx2"/>
                </a:solidFill>
                <a:latin typeface="Arial"/>
              </a:rPr>
              <a:t>It’s more fun! (aka don’t underestimate the power of </a:t>
            </a:r>
            <a:r>
              <a:rPr lang="it-IT" sz="1800" b="1">
                <a:solidFill>
                  <a:schemeClr val="tx2"/>
                </a:solidFill>
                <a:latin typeface="Arial"/>
              </a:rPr>
              <a:t>gamification</a:t>
            </a:r>
            <a:r>
              <a:rPr lang="it-IT" sz="1800" b="0">
                <a:solidFill>
                  <a:schemeClr val="tx2"/>
                </a:solidFill>
                <a:latin typeface="Arial"/>
              </a:rPr>
              <a:t>)</a:t>
            </a:r>
            <a:endParaRPr sz="1800" b="0">
              <a:solidFill>
                <a:schemeClr val="tx2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61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13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4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29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918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4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6526" name="Project…"/>
          <p:cNvSpPr txBox="1"/>
          <p:nvPr/>
        </p:nvSpPr>
        <p:spPr bwMode="auto">
          <a:xfrm>
            <a:off x="746699" y="1591544"/>
            <a:ext cx="12629335" cy="555095"/>
          </a:xfrm>
          <a:prstGeom prst="rect">
            <a:avLst/>
          </a:prstGeom>
          <a:ln w="12700">
            <a:miter lim="400000"/>
          </a:ln>
        </p:spPr>
        <p:txBody>
          <a:bodyPr wrap="square" lIns="30479" tIns="30479" rIns="30479" bIns="30479" anchor="ctr">
            <a:spAutoFit/>
          </a:bodyPr>
          <a:lstStyle/>
          <a:p>
            <a:pPr defTabSz="548640">
              <a:lnSpc>
                <a:spcPct val="90000"/>
              </a:lnSpc>
              <a:defRPr sz="8000" spc="-147">
                <a:solidFill>
                  <a:srgbClr val="01CF89"/>
                </a:solidFill>
                <a:latin typeface="+mn-lt"/>
                <a:ea typeface="+mn-ea"/>
                <a:cs typeface="+mn-cs"/>
              </a:defRPr>
            </a:pPr>
            <a:r>
              <a:rPr lang="it-IT" sz="3600" b="1">
                <a:solidFill>
                  <a:srgbClr val="1A6690"/>
                </a:solidFill>
                <a:latin typeface="Arial Black"/>
              </a:rPr>
              <a:t>DroidGround: Overall Architecture</a:t>
            </a:r>
            <a:endParaRPr sz="3600" b="1">
              <a:solidFill>
                <a:srgbClr val="1A6690"/>
              </a:solidFill>
              <a:latin typeface="Arial Black"/>
            </a:endParaRPr>
          </a:p>
        </p:txBody>
      </p:sp>
      <p:pic>
        <p:nvPicPr>
          <p:cNvPr id="16173183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2897" y="2809874"/>
            <a:ext cx="8497801" cy="4775199"/>
          </a:xfrm>
          <a:prstGeom prst="rect">
            <a:avLst/>
          </a:prstGeom>
        </p:spPr>
      </p:pic>
      <p:pic>
        <p:nvPicPr>
          <p:cNvPr id="51521790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0513218" y="3208705"/>
            <a:ext cx="1668093" cy="1668093"/>
          </a:xfrm>
          <a:prstGeom prst="rect">
            <a:avLst/>
          </a:prstGeom>
        </p:spPr>
      </p:pic>
      <p:sp>
        <p:nvSpPr>
          <p:cNvPr id="13152385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11169281" y="2560777"/>
            <a:ext cx="3298030" cy="713440"/>
          </a:xfrm>
          <a:prstGeom prst="rect">
            <a:avLst/>
          </a:prstGeom>
          <a:ln w="12700">
            <a:miter lim="400000"/>
          </a:ln>
        </p:spPr>
        <p:txBody>
          <a:bodyPr lIns="30478" tIns="30478" rIns="30478" bIns="30478"/>
          <a:lstStyle>
            <a:lvl1pPr defTabSz="914400">
              <a:defRPr sz="2400" spc="-42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>
              <a:lnSpc>
                <a:spcPct val="114999"/>
              </a:lnSpc>
              <a:defRPr/>
            </a:pPr>
            <a:r>
              <a:rPr lang="it-IT" sz="1800" b="0">
                <a:solidFill>
                  <a:schemeClr val="tx2"/>
                </a:solidFill>
                <a:latin typeface="Arial"/>
              </a:rPr>
              <a:t>This can be a </a:t>
            </a:r>
            <a:r>
              <a:rPr lang="it-IT" sz="1800" b="1">
                <a:solidFill>
                  <a:schemeClr val="tx2"/>
                </a:solidFill>
                <a:latin typeface="Arial"/>
              </a:rPr>
              <a:t>real </a:t>
            </a:r>
            <a:r>
              <a:rPr lang="it-IT" sz="1800" b="1">
                <a:solidFill>
                  <a:schemeClr val="tx2"/>
                </a:solidFill>
                <a:latin typeface="Arial"/>
              </a:rPr>
              <a:t>device</a:t>
            </a:r>
            <a:r>
              <a:rPr lang="it-IT" sz="1800" b="0">
                <a:solidFill>
                  <a:schemeClr val="tx2"/>
                </a:solidFill>
                <a:latin typeface="Arial"/>
              </a:rPr>
              <a:t>, </a:t>
            </a:r>
            <a:endParaRPr sz="1800" b="0">
              <a:solidFill>
                <a:schemeClr val="tx2"/>
              </a:solidFill>
              <a:latin typeface="Arial"/>
            </a:endParaRPr>
          </a:p>
          <a:p>
            <a:pPr>
              <a:lnSpc>
                <a:spcPct val="114999"/>
              </a:lnSpc>
              <a:defRPr/>
            </a:pPr>
            <a:r>
              <a:rPr lang="it-IT" sz="1800" b="0">
                <a:solidFill>
                  <a:schemeClr val="tx2"/>
                </a:solidFill>
                <a:latin typeface="Arial"/>
              </a:rPr>
              <a:t>an </a:t>
            </a:r>
            <a:r>
              <a:rPr lang="it-IT" sz="1800" b="1">
                <a:solidFill>
                  <a:schemeClr val="tx2"/>
                </a:solidFill>
                <a:latin typeface="Arial"/>
              </a:rPr>
              <a:t>AVD</a:t>
            </a:r>
            <a:r>
              <a:rPr lang="it-IT" sz="1800" b="0">
                <a:solidFill>
                  <a:schemeClr val="tx2"/>
                </a:solidFill>
                <a:latin typeface="Arial"/>
              </a:rPr>
              <a:t>, a </a:t>
            </a:r>
            <a:r>
              <a:rPr lang="it-IT" sz="1800" b="1">
                <a:solidFill>
                  <a:schemeClr val="tx2"/>
                </a:solidFill>
                <a:latin typeface="Arial"/>
              </a:rPr>
              <a:t>Docker </a:t>
            </a:r>
            <a:r>
              <a:rPr lang="it-IT" sz="1800" b="1">
                <a:solidFill>
                  <a:schemeClr val="tx2"/>
                </a:solidFill>
                <a:latin typeface="Arial"/>
              </a:rPr>
              <a:t>container </a:t>
            </a:r>
            <a:endParaRPr sz="1800" b="0">
              <a:solidFill>
                <a:schemeClr val="tx2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1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412830" name="Project…"/>
          <p:cNvSpPr txBox="1"/>
          <p:nvPr/>
        </p:nvSpPr>
        <p:spPr bwMode="auto">
          <a:xfrm>
            <a:off x="746698" y="1594784"/>
            <a:ext cx="12635814" cy="555093"/>
          </a:xfrm>
          <a:prstGeom prst="rect">
            <a:avLst/>
          </a:prstGeom>
          <a:ln w="12700">
            <a:miter lim="400000"/>
          </a:ln>
        </p:spPr>
        <p:txBody>
          <a:bodyPr wrap="square" lIns="30478" tIns="30478" rIns="30478" bIns="30478" anchor="ctr">
            <a:spAutoFit/>
          </a:bodyPr>
          <a:lstStyle/>
          <a:p>
            <a:pPr defTabSz="548640">
              <a:lnSpc>
                <a:spcPct val="90000"/>
              </a:lnSpc>
              <a:defRPr sz="8000" spc="-146">
                <a:solidFill>
                  <a:srgbClr val="01CF89"/>
                </a:solidFill>
                <a:latin typeface="+mn-lt"/>
                <a:ea typeface="+mn-ea"/>
                <a:cs typeface="+mn-cs"/>
              </a:defRPr>
            </a:pPr>
            <a:r>
              <a:rPr lang="it-IT" sz="3600" b="1">
                <a:solidFill>
                  <a:srgbClr val="1A6690"/>
                </a:solidFill>
                <a:latin typeface="Arial Black"/>
              </a:rPr>
              <a:t>DroidGround: Features</a:t>
            </a:r>
            <a:endParaRPr sz="3600" b="1">
              <a:solidFill>
                <a:srgbClr val="1A6690"/>
              </a:solidFill>
              <a:latin typeface="Arial Black"/>
            </a:endParaRPr>
          </a:p>
        </p:txBody>
      </p:sp>
      <p:sp>
        <p:nvSpPr>
          <p:cNvPr id="28056739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0" flipH="0" flipV="0">
            <a:off x="784497" y="3077048"/>
            <a:ext cx="13422114" cy="2914483"/>
          </a:xfrm>
          <a:prstGeom prst="rect">
            <a:avLst/>
          </a:prstGeom>
          <a:ln w="12700">
            <a:miter lim="400000"/>
          </a:ln>
        </p:spPr>
        <p:txBody>
          <a:bodyPr vertOverflow="overflow" horzOverflow="overflow" vert="horz" wrap="square" lIns="30478" tIns="30478" rIns="30478" bIns="30478" numCol="2" spcCol="0" rtlCol="0" fromWordArt="0" anchor="t" anchorCtr="0" forceAA="0" upright="0" compatLnSpc="0"/>
          <a:lstStyle>
            <a:lvl1pPr defTabSz="914400">
              <a:defRPr sz="2400" spc="-42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Real-Time Device Screenshare (via </a:t>
            </a:r>
            <a:r>
              <a:rPr lang="it-IT" sz="1800" b="0" i="0">
                <a:solidFill>
                  <a:schemeClr val="tx2"/>
                </a:solidFill>
                <a:latin typeface="FreeMono"/>
                <a:ea typeface="FreeMono"/>
                <a:cs typeface="FreeMono"/>
              </a:rPr>
              <a:t>scrcpy</a:t>
            </a:r>
            <a:r>
              <a:rPr lang="it-IT" sz="1800" b="0" i="0">
                <a:solidFill>
                  <a:schemeClr val="tx2"/>
                </a:solidFill>
                <a:latin typeface="Arial"/>
              </a:rPr>
              <a:t>)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Reset Challenge State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Restart App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Start Activity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Start Service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Send Broadcast Intent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Shutdown Device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Reboot Device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Download Bugreport (via </a:t>
            </a:r>
            <a:r>
              <a:rPr lang="it-IT" sz="1800" b="0" i="0">
                <a:solidFill>
                  <a:schemeClr val="tx2"/>
                </a:solidFill>
                <a:latin typeface="FreeMono"/>
                <a:ea typeface="FreeMono"/>
                <a:cs typeface="FreeMono"/>
              </a:rPr>
              <a:t>bugreportz</a:t>
            </a:r>
            <a:r>
              <a:rPr lang="it-IT" sz="1800" b="0" i="0">
                <a:solidFill>
                  <a:schemeClr val="tx2"/>
                </a:solidFill>
                <a:latin typeface="Arial"/>
              </a:rPr>
              <a:t>)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Frida Scripting (either “</a:t>
            </a:r>
            <a:r>
              <a:rPr lang="it-IT" sz="1800" b="0" i="1">
                <a:solidFill>
                  <a:schemeClr val="tx2"/>
                </a:solidFill>
                <a:latin typeface="Arial"/>
              </a:rPr>
              <a:t>jailed</a:t>
            </a:r>
            <a:r>
              <a:rPr lang="it-IT" sz="1800" b="0" i="0">
                <a:solidFill>
                  <a:schemeClr val="tx2"/>
                </a:solidFill>
                <a:latin typeface="Arial"/>
              </a:rPr>
              <a:t>” or “</a:t>
            </a:r>
            <a:r>
              <a:rPr lang="it-IT" sz="1800" b="0" i="1">
                <a:solidFill>
                  <a:schemeClr val="tx2"/>
                </a:solidFill>
                <a:latin typeface="Arial"/>
              </a:rPr>
              <a:t>full</a:t>
            </a:r>
            <a:r>
              <a:rPr lang="it-IT" sz="1800" b="0" i="0">
                <a:solidFill>
                  <a:schemeClr val="tx2"/>
                </a:solidFill>
                <a:latin typeface="Arial"/>
              </a:rPr>
              <a:t>” mode)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File Browser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Terminal Access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Application Management (install and run exploit app)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Logcat Viewer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</p:txBody>
      </p:sp>
      <p:pic>
        <p:nvPicPr>
          <p:cNvPr id="15624430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0436" y="3881283"/>
            <a:ext cx="316679" cy="316679"/>
          </a:xfrm>
          <a:prstGeom prst="rect">
            <a:avLst/>
          </a:prstGeom>
        </p:spPr>
      </p:pic>
      <p:pic>
        <p:nvPicPr>
          <p:cNvPr id="116810450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4497" y="4319795"/>
            <a:ext cx="316679" cy="316679"/>
          </a:xfrm>
          <a:prstGeom prst="rect">
            <a:avLst/>
          </a:prstGeom>
        </p:spPr>
      </p:pic>
      <p:pic>
        <p:nvPicPr>
          <p:cNvPr id="755957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4497" y="4708122"/>
            <a:ext cx="316679" cy="316679"/>
          </a:xfrm>
          <a:prstGeom prst="rect">
            <a:avLst/>
          </a:prstGeom>
        </p:spPr>
      </p:pic>
      <p:pic>
        <p:nvPicPr>
          <p:cNvPr id="1281509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4497" y="5133084"/>
            <a:ext cx="316679" cy="316679"/>
          </a:xfrm>
          <a:prstGeom prst="rect">
            <a:avLst/>
          </a:prstGeom>
        </p:spPr>
      </p:pic>
      <p:pic>
        <p:nvPicPr>
          <p:cNvPr id="9294507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4497" y="5550718"/>
            <a:ext cx="316679" cy="316679"/>
          </a:xfrm>
          <a:prstGeom prst="rect">
            <a:avLst/>
          </a:prstGeom>
        </p:spPr>
      </p:pic>
      <p:pic>
        <p:nvPicPr>
          <p:cNvPr id="869442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95555" y="3077048"/>
            <a:ext cx="316679" cy="316679"/>
          </a:xfrm>
          <a:prstGeom prst="rect">
            <a:avLst/>
          </a:prstGeom>
        </p:spPr>
      </p:pic>
      <p:pic>
        <p:nvPicPr>
          <p:cNvPr id="335621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95555" y="3484163"/>
            <a:ext cx="316679" cy="316679"/>
          </a:xfrm>
          <a:prstGeom prst="rect">
            <a:avLst/>
          </a:prstGeom>
        </p:spPr>
      </p:pic>
      <p:pic>
        <p:nvPicPr>
          <p:cNvPr id="9782501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95555" y="3881283"/>
            <a:ext cx="316679" cy="316679"/>
          </a:xfrm>
          <a:prstGeom prst="rect">
            <a:avLst/>
          </a:prstGeom>
        </p:spPr>
      </p:pic>
      <p:pic>
        <p:nvPicPr>
          <p:cNvPr id="20737461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95555" y="4319795"/>
            <a:ext cx="316679" cy="316679"/>
          </a:xfrm>
          <a:prstGeom prst="rect">
            <a:avLst/>
          </a:prstGeom>
        </p:spPr>
      </p:pic>
      <p:pic>
        <p:nvPicPr>
          <p:cNvPr id="19192100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95555" y="4708122"/>
            <a:ext cx="316679" cy="316679"/>
          </a:xfrm>
          <a:prstGeom prst="rect">
            <a:avLst/>
          </a:prstGeom>
        </p:spPr>
      </p:pic>
      <p:pic>
        <p:nvPicPr>
          <p:cNvPr id="199582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95555" y="5133084"/>
            <a:ext cx="316679" cy="316679"/>
          </a:xfrm>
          <a:prstGeom prst="rect">
            <a:avLst/>
          </a:prstGeom>
        </p:spPr>
      </p:pic>
      <p:pic>
        <p:nvPicPr>
          <p:cNvPr id="14723453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95555" y="5550718"/>
            <a:ext cx="316679" cy="316679"/>
          </a:xfrm>
          <a:prstGeom prst="rect">
            <a:avLst/>
          </a:prstGeom>
        </p:spPr>
      </p:pic>
      <p:pic>
        <p:nvPicPr>
          <p:cNvPr id="10876326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6698" y="6900333"/>
            <a:ext cx="1038249" cy="1038249"/>
          </a:xfrm>
          <a:prstGeom prst="rect">
            <a:avLst/>
          </a:prstGeom>
        </p:spPr>
      </p:pic>
      <p:sp>
        <p:nvSpPr>
          <p:cNvPr id="483029070" name=""/>
          <p:cNvSpPr txBox="1"/>
          <p:nvPr/>
        </p:nvSpPr>
        <p:spPr bwMode="auto">
          <a:xfrm flipH="0" flipV="0">
            <a:off x="1657948" y="7156388"/>
            <a:ext cx="1504633" cy="5261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r>
              <a:rPr lang="it-IT" b="1" i="0">
                <a:solidFill>
                  <a:schemeClr val="tx2"/>
                </a:solidFill>
                <a:latin typeface="Arial"/>
              </a:rPr>
              <a:t>Toggable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</p:txBody>
      </p:sp>
      <p:pic>
        <p:nvPicPr>
          <p:cNvPr id="18030358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8557" y="3484162"/>
            <a:ext cx="316678" cy="3166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03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44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10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95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50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45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4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62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250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74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210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8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34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63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029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37052" name="Project…"/>
          <p:cNvSpPr txBox="1"/>
          <p:nvPr/>
        </p:nvSpPr>
        <p:spPr bwMode="auto">
          <a:xfrm>
            <a:off x="746697" y="1596584"/>
            <a:ext cx="12639413" cy="555091"/>
          </a:xfrm>
          <a:prstGeom prst="rect">
            <a:avLst/>
          </a:prstGeom>
          <a:ln w="12700">
            <a:miter lim="400000"/>
          </a:ln>
        </p:spPr>
        <p:txBody>
          <a:bodyPr wrap="square" lIns="30477" tIns="30477" rIns="30477" bIns="30477" anchor="ctr">
            <a:spAutoFit/>
          </a:bodyPr>
          <a:lstStyle/>
          <a:p>
            <a:pPr defTabSz="548640">
              <a:lnSpc>
                <a:spcPct val="90000"/>
              </a:lnSpc>
              <a:defRPr sz="8000" spc="-145">
                <a:solidFill>
                  <a:srgbClr val="01CF89"/>
                </a:solidFill>
                <a:latin typeface="+mn-lt"/>
                <a:ea typeface="+mn-ea"/>
                <a:cs typeface="+mn-cs"/>
              </a:defRPr>
            </a:pPr>
            <a:r>
              <a:rPr lang="it-IT" sz="3600" b="1">
                <a:solidFill>
                  <a:srgbClr val="1A6690"/>
                </a:solidFill>
                <a:latin typeface="Arial Black"/>
              </a:rPr>
              <a:t>Guardrails</a:t>
            </a:r>
            <a:endParaRPr sz="3600" b="1">
              <a:solidFill>
                <a:srgbClr val="1A6690"/>
              </a:solidFill>
              <a:latin typeface="Arial Black"/>
            </a:endParaRPr>
          </a:p>
        </p:txBody>
      </p:sp>
      <p:sp>
        <p:nvSpPr>
          <p:cNvPr id="1897866514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rot="0" flipH="0" flipV="0">
            <a:off x="784800" y="2565902"/>
            <a:ext cx="13422114" cy="4695628"/>
          </a:xfrm>
          <a:prstGeom prst="rect">
            <a:avLst/>
          </a:prstGeom>
          <a:ln w="12700">
            <a:miter lim="400000"/>
          </a:ln>
        </p:spPr>
        <p:txBody>
          <a:bodyPr vertOverflow="overflow" horzOverflow="overflow" vert="horz" wrap="square" lIns="30477" tIns="30477" rIns="30477" bIns="30477" numCol="1" spcCol="0" rtlCol="0" fromWordArt="0" anchor="t" anchorCtr="0" forceAA="0" upright="0" compatLnSpc="0"/>
          <a:lstStyle>
            <a:lvl1pPr defTabSz="914400">
              <a:defRPr sz="2400" spc="-41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lvl="2">
              <a:lnSpc>
                <a:spcPct val="150000"/>
              </a:lnSpc>
              <a:defRPr/>
            </a:pPr>
            <a:r>
              <a:rPr lang="it-IT" sz="2000" b="1" i="0" u="none" strike="noStrike" cap="none" spc="0">
                <a:ln>
                  <a:noFill/>
                </a:ln>
                <a:solidFill>
                  <a:srgbClr val="1A6690"/>
                </a:solidFill>
                <a:latin typeface="Arial Black"/>
                <a:ea typeface="Arial Black"/>
                <a:cs typeface="Arial Black"/>
              </a:rPr>
              <a:t>Provided by Android itself</a:t>
            </a:r>
            <a:endParaRPr sz="2000" b="1" i="0">
              <a:solidFill>
                <a:schemeClr val="tx2"/>
              </a:solidFill>
              <a:latin typeface="Arial"/>
            </a:endParaRPr>
          </a:p>
          <a:p>
            <a:pPr marL="683928" lvl="1" indent="-283878">
              <a:lnSpc>
                <a:spcPct val="150000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Apps override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  <a:p>
            <a:pPr lvl="1">
              <a:lnSpc>
                <a:spcPct val="150000"/>
              </a:lnSpc>
              <a:defRPr/>
            </a:pPr>
            <a:endParaRPr lang="it-IT" sz="1800" b="0" i="0">
              <a:solidFill>
                <a:schemeClr val="tx2"/>
              </a:solidFill>
              <a:latin typeface="Arial"/>
            </a:endParaRPr>
          </a:p>
          <a:p>
            <a:pPr lvl="2">
              <a:lnSpc>
                <a:spcPct val="150000"/>
              </a:lnSpc>
              <a:defRPr/>
            </a:pPr>
            <a:r>
              <a:rPr lang="it-IT" sz="2000" b="1" i="0" u="none" strike="noStrike" cap="none" spc="0">
                <a:ln>
                  <a:noFill/>
                </a:ln>
                <a:solidFill>
                  <a:srgbClr val="1A6690"/>
                </a:solidFill>
                <a:latin typeface="Arial Black"/>
                <a:ea typeface="Arial Black"/>
                <a:cs typeface="Arial Black"/>
              </a:rPr>
              <a:t>Provided by DroidGround</a:t>
            </a:r>
            <a:endParaRPr sz="2000" b="1" i="0">
              <a:solidFill>
                <a:schemeClr val="tx2"/>
              </a:solidFill>
              <a:latin typeface="Arial"/>
            </a:endParaRPr>
          </a:p>
          <a:p>
            <a:pPr marL="683929" lvl="2" indent="-283879">
              <a:lnSpc>
                <a:spcPct val="150000"/>
              </a:lnSpc>
              <a:buClrTx/>
              <a:buSzTx/>
              <a:buFont typeface="Arial"/>
              <a:buChar char="•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Start Activity, Start Service and Send Broadcast Intent are </a:t>
            </a:r>
            <a:r>
              <a:rPr lang="it-IT" sz="1800" b="1" i="0">
                <a:solidFill>
                  <a:schemeClr val="tx2"/>
                </a:solidFill>
                <a:latin typeface="Arial"/>
              </a:rPr>
              <a:t>valid only against the</a:t>
            </a:r>
            <a:r>
              <a:rPr lang="it-IT" sz="1800" b="0" i="0">
                <a:solidFill>
                  <a:schemeClr val="tx2"/>
                </a:solidFill>
                <a:latin typeface="Arial"/>
              </a:rPr>
              <a:t> </a:t>
            </a:r>
            <a:r>
              <a:rPr lang="it-IT" sz="1800" b="1" i="0">
                <a:solidFill>
                  <a:schemeClr val="tx2"/>
                </a:solidFill>
                <a:latin typeface="Arial"/>
              </a:rPr>
              <a:t>target app</a:t>
            </a:r>
            <a:endParaRPr lang="it-IT" sz="1800" b="1" i="0">
              <a:solidFill>
                <a:schemeClr val="tx2"/>
              </a:solidFill>
              <a:latin typeface="Arial"/>
            </a:endParaRPr>
          </a:p>
          <a:p>
            <a:pPr marL="683929" lvl="2" indent="-283879">
              <a:lnSpc>
                <a:spcPct val="150000"/>
              </a:lnSpc>
              <a:buClrTx/>
              <a:buSzTx/>
              <a:buFont typeface="Arial"/>
              <a:buChar char="•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Frida scripts are tied to the </a:t>
            </a:r>
            <a:r>
              <a:rPr lang="it-IT" sz="1800" b="1" i="0">
                <a:solidFill>
                  <a:schemeClr val="tx2"/>
                </a:solidFill>
                <a:latin typeface="Arial"/>
              </a:rPr>
              <a:t>target app</a:t>
            </a:r>
            <a:r>
              <a:rPr lang="it-IT" sz="1800" b="0" i="0">
                <a:solidFill>
                  <a:schemeClr val="tx2"/>
                </a:solidFill>
                <a:latin typeface="Arial"/>
              </a:rPr>
              <a:t> as well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  <a:p>
            <a:pPr marL="683929" lvl="2" indent="-283879">
              <a:lnSpc>
                <a:spcPct val="150000"/>
              </a:lnSpc>
              <a:buClrTx/>
              <a:buSzTx/>
              <a:buFont typeface="Arial"/>
              <a:buChar char="•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Only apps installed by the user can be deleted or executed as </a:t>
            </a:r>
            <a:r>
              <a:rPr lang="it-IT" sz="1800" b="1" i="0">
                <a:solidFill>
                  <a:schemeClr val="tx2"/>
                </a:solidFill>
                <a:latin typeface="Arial"/>
              </a:rPr>
              <a:t>exploit apps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  <a:p>
            <a:pPr marL="683929" lvl="2" indent="-283879">
              <a:lnSpc>
                <a:spcPct val="150000"/>
              </a:lnSpc>
              <a:buClrTx/>
              <a:buSzTx/>
              <a:buFont typeface="Arial"/>
              <a:buChar char="•"/>
              <a:defRPr/>
            </a:pPr>
            <a:endParaRPr lang="it-IT" sz="1800" b="1" i="0">
              <a:solidFill>
                <a:schemeClr val="tx2"/>
              </a:solidFill>
              <a:latin typeface="Arial"/>
            </a:endParaRPr>
          </a:p>
          <a:p>
            <a:pPr lvl="2">
              <a:lnSpc>
                <a:spcPct val="150000"/>
              </a:lnSpc>
              <a:defRPr/>
            </a:pPr>
            <a:r>
              <a:rPr lang="it-IT" sz="2000" b="1" i="0" u="none" strike="noStrike" cap="none" spc="0">
                <a:ln>
                  <a:noFill/>
                </a:ln>
                <a:solidFill>
                  <a:srgbClr val="1A6690"/>
                </a:solidFill>
                <a:latin typeface="Arial Black"/>
                <a:ea typeface="Arial Black"/>
                <a:cs typeface="Arial Black"/>
              </a:rPr>
              <a:t>Provided during deploy (by you)</a:t>
            </a:r>
            <a:endParaRPr lang="it-IT" sz="2000" b="1" i="0" u="none" strike="noStrike" cap="none" spc="0">
              <a:ln>
                <a:noFill/>
              </a:ln>
              <a:solidFill>
                <a:srgbClr val="1A6690"/>
              </a:solidFill>
              <a:latin typeface="Times New Roman"/>
              <a:cs typeface="Times New Roman"/>
            </a:endParaRPr>
          </a:p>
          <a:p>
            <a:pPr marL="683928" lvl="2" indent="-283878">
              <a:lnSpc>
                <a:spcPct val="150000"/>
              </a:lnSpc>
              <a:buClrTx/>
              <a:buSzTx/>
              <a:buFont typeface="Arial"/>
              <a:buChar char="•"/>
              <a:defRPr/>
            </a:pPr>
            <a:r>
              <a:rPr lang="it-IT" sz="2000" b="0" i="0" u="none" strike="noStrike" cap="none" spc="0">
                <a:ln>
                  <a:noFill/>
                </a:ln>
                <a:solidFill>
                  <a:schemeClr val="tx2"/>
                </a:solidFill>
                <a:latin typeface="Arial"/>
                <a:ea typeface="Arial"/>
                <a:cs typeface="Arial"/>
              </a:rPr>
              <a:t>Use non-rooted devices to avoid abuse</a:t>
            </a:r>
            <a:endParaRPr sz="2000" b="0" i="0">
              <a:solidFill>
                <a:schemeClr val="tx2"/>
              </a:solidFill>
              <a:latin typeface="Arial"/>
            </a:endParaRPr>
          </a:p>
          <a:p>
            <a:pPr lvl="2">
              <a:lnSpc>
                <a:spcPct val="150000"/>
              </a:lnSpc>
              <a:defRPr/>
            </a:pPr>
            <a:endParaRPr lang="it-IT" sz="2000" b="1" i="0" u="none" strike="noStrike" cap="none" spc="0">
              <a:ln>
                <a:noFill/>
              </a:ln>
              <a:solidFill>
                <a:srgbClr val="1A669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3793" name="Methodology"/>
          <p:cNvSpPr txBox="1"/>
          <p:nvPr/>
        </p:nvSpPr>
        <p:spPr bwMode="auto">
          <a:xfrm>
            <a:off x="-4140" y="4118938"/>
            <a:ext cx="14638680" cy="1623649"/>
          </a:xfrm>
          <a:prstGeom prst="rect">
            <a:avLst/>
          </a:prstGeom>
          <a:ln w="12700">
            <a:miter lim="400000"/>
          </a:ln>
        </p:spPr>
        <p:txBody>
          <a:bodyPr lIns="30479" tIns="30479" rIns="30479" bIns="30479" anchor="ctr">
            <a:spAutoFit/>
          </a:bodyPr>
          <a:lstStyle/>
          <a:p>
            <a:pPr algn="ctr" defTabSz="548640">
              <a:lnSpc>
                <a:spcPct val="90000"/>
              </a:lnSpc>
              <a:defRPr sz="16000" spc="-295">
                <a:solidFill>
                  <a:srgbClr val="01CF89"/>
                </a:solidFill>
                <a:latin typeface="+mn-lt"/>
                <a:ea typeface="+mn-ea"/>
                <a:cs typeface="+mn-cs"/>
              </a:defRPr>
            </a:pPr>
            <a:r>
              <a:rPr lang="it-IT" sz="9600" b="1" i="0" u="none" strike="noStrike" cap="none" spc="-295">
                <a:ln>
                  <a:noFill/>
                </a:ln>
                <a:solidFill>
                  <a:srgbClr val="1A6690"/>
                </a:solidFill>
                <a:latin typeface="Arial Black"/>
                <a:ea typeface="Arial Black"/>
                <a:cs typeface="Arial Black"/>
              </a:rPr>
              <a:t>⭐</a:t>
            </a:r>
            <a:r>
              <a:rPr lang="it-IT" sz="9600" b="1">
                <a:solidFill>
                  <a:srgbClr val="1A6690"/>
                </a:solidFill>
                <a:latin typeface="Arial Black"/>
              </a:rPr>
              <a:t> Demo Time </a:t>
            </a:r>
            <a:r>
              <a:rPr lang="it-IT" sz="9600" b="1" i="0" u="none" strike="noStrike" cap="none" spc="-295">
                <a:ln>
                  <a:noFill/>
                </a:ln>
                <a:solidFill>
                  <a:srgbClr val="1A6690"/>
                </a:solidFill>
                <a:latin typeface="Arial Black"/>
                <a:ea typeface="Arial Black"/>
                <a:cs typeface="Arial Black"/>
              </a:rPr>
              <a:t>⭐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645676" name="Project…"/>
          <p:cNvSpPr txBox="1"/>
          <p:nvPr/>
        </p:nvSpPr>
        <p:spPr bwMode="auto">
          <a:xfrm>
            <a:off x="761999" y="2520790"/>
            <a:ext cx="12614576" cy="555095"/>
          </a:xfrm>
          <a:prstGeom prst="rect">
            <a:avLst/>
          </a:prstGeom>
          <a:ln w="12700">
            <a:miter lim="400000"/>
          </a:ln>
        </p:spPr>
        <p:txBody>
          <a:bodyPr wrap="square" lIns="30479" tIns="30479" rIns="30479" bIns="30479" anchor="ctr">
            <a:spAutoFit/>
          </a:bodyPr>
          <a:lstStyle/>
          <a:p>
            <a:pPr defTabSz="548640">
              <a:lnSpc>
                <a:spcPct val="90000"/>
              </a:lnSpc>
              <a:defRPr sz="8000" spc="-147">
                <a:solidFill>
                  <a:srgbClr val="01CF89"/>
                </a:solidFill>
                <a:latin typeface="+mn-lt"/>
                <a:ea typeface="+mn-ea"/>
                <a:cs typeface="+mn-cs"/>
              </a:defRPr>
            </a:pPr>
            <a:r>
              <a:rPr lang="it-IT" sz="3600" b="1">
                <a:solidFill>
                  <a:srgbClr val="1A6690"/>
                </a:solidFill>
                <a:latin typeface="Arial Black"/>
              </a:rPr>
              <a:t>Technical Deep-Dive: the Companion App</a:t>
            </a:r>
            <a:endParaRPr sz="3600" b="1">
              <a:solidFill>
                <a:srgbClr val="1A6690"/>
              </a:solidFill>
              <a:latin typeface="Arial Black"/>
            </a:endParaRPr>
          </a:p>
        </p:txBody>
      </p:sp>
      <p:sp>
        <p:nvSpPr>
          <p:cNvPr id="192512478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762359" y="3454527"/>
            <a:ext cx="12598016" cy="577721"/>
          </a:xfrm>
          <a:prstGeom prst="rect">
            <a:avLst/>
          </a:prstGeom>
          <a:ln w="12700">
            <a:miter lim="400000"/>
          </a:ln>
        </p:spPr>
        <p:txBody>
          <a:bodyPr lIns="30479" tIns="30479" rIns="30479" bIns="30479"/>
          <a:lstStyle>
            <a:lvl1pPr defTabSz="914400"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>
              <a:lnSpc>
                <a:spcPct val="114999"/>
              </a:lnSpc>
              <a:defRPr/>
            </a:pPr>
            <a:r>
              <a:rPr lang="it-IT" sz="1800">
                <a:solidFill>
                  <a:schemeClr val="tx2"/>
                </a:solidFill>
                <a:latin typeface="Arial"/>
              </a:rPr>
              <a:t>The App Manager feature leverages a custom-made </a:t>
            </a:r>
            <a:r>
              <a:rPr lang="it-IT" sz="1800" b="1" i="1">
                <a:solidFill>
                  <a:schemeClr val="tx2"/>
                </a:solidFill>
                <a:latin typeface="Arial"/>
              </a:rPr>
              <a:t>Companion App</a:t>
            </a:r>
            <a:r>
              <a:rPr lang="it-IT" sz="1800" b="0" i="0">
                <a:solidFill>
                  <a:schemeClr val="tx2"/>
                </a:solidFill>
                <a:latin typeface="Arial"/>
              </a:rPr>
              <a:t>:</a:t>
            </a:r>
            <a:endParaRPr sz="1800" b="0" i="0">
              <a:solidFill>
                <a:schemeClr val="tx2"/>
              </a:solidFill>
              <a:latin typeface="Arial"/>
            </a:endParaRPr>
          </a:p>
        </p:txBody>
      </p:sp>
      <p:pic>
        <p:nvPicPr>
          <p:cNvPr id="15421112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7812" y="4228553"/>
            <a:ext cx="10367112" cy="34273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527184" name="Project…"/>
          <p:cNvSpPr txBox="1"/>
          <p:nvPr/>
        </p:nvSpPr>
        <p:spPr bwMode="auto">
          <a:xfrm>
            <a:off x="761999" y="2520789"/>
            <a:ext cx="12614575" cy="555095"/>
          </a:xfrm>
          <a:prstGeom prst="rect">
            <a:avLst/>
          </a:prstGeom>
          <a:ln w="12700">
            <a:miter lim="400000"/>
          </a:ln>
        </p:spPr>
        <p:txBody>
          <a:bodyPr wrap="square" lIns="30479" tIns="30479" rIns="30479" bIns="30479" anchor="ctr">
            <a:spAutoFit/>
          </a:bodyPr>
          <a:lstStyle/>
          <a:p>
            <a:pPr defTabSz="548640">
              <a:lnSpc>
                <a:spcPct val="90000"/>
              </a:lnSpc>
              <a:defRPr sz="8000" spc="-147">
                <a:solidFill>
                  <a:srgbClr val="01CF89"/>
                </a:solidFill>
                <a:latin typeface="+mn-lt"/>
                <a:ea typeface="+mn-ea"/>
                <a:cs typeface="+mn-cs"/>
              </a:defRPr>
            </a:pPr>
            <a:r>
              <a:rPr lang="it-IT" sz="3600" b="1">
                <a:solidFill>
                  <a:srgbClr val="1A6690"/>
                </a:solidFill>
                <a:latin typeface="Arial Black"/>
              </a:rPr>
              <a:t>Technical Deep-Dive: the Companion App</a:t>
            </a:r>
            <a:endParaRPr sz="3600" b="1">
              <a:solidFill>
                <a:srgbClr val="1A6690"/>
              </a:solidFill>
              <a:latin typeface="Arial Black"/>
            </a:endParaRPr>
          </a:p>
        </p:txBody>
      </p:sp>
      <p:sp>
        <p:nvSpPr>
          <p:cNvPr id="1134098251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762359" y="3454527"/>
            <a:ext cx="12598016" cy="3705096"/>
          </a:xfrm>
          <a:prstGeom prst="rect">
            <a:avLst/>
          </a:prstGeom>
          <a:ln w="12700">
            <a:miter lim="400000"/>
          </a:ln>
        </p:spPr>
        <p:txBody>
          <a:bodyPr lIns="30479" tIns="30479" rIns="30479" bIns="30479"/>
          <a:lstStyle>
            <a:lvl1pPr defTabSz="914400"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>
              <a:lnSpc>
                <a:spcPct val="114999"/>
              </a:lnSpc>
              <a:defRPr/>
            </a:pPr>
            <a:r>
              <a:rPr lang="it-IT" sz="1800">
                <a:solidFill>
                  <a:schemeClr val="tx2"/>
                </a:solidFill>
                <a:latin typeface="Arial"/>
              </a:rPr>
              <a:t>The </a:t>
            </a:r>
            <a:r>
              <a:rPr lang="it-IT" sz="1800" b="1" i="1">
                <a:solidFill>
                  <a:schemeClr val="tx2"/>
                </a:solidFill>
                <a:latin typeface="Arial"/>
              </a:rPr>
              <a:t>Companion App: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  <a:p>
            <a:pPr>
              <a:lnSpc>
                <a:spcPct val="114999"/>
              </a:lnSpc>
              <a:defRPr/>
            </a:pPr>
            <a:endParaRPr lang="it-IT" sz="1800" b="1" i="1">
              <a:solidFill>
                <a:schemeClr val="tx2"/>
              </a:solidFill>
              <a:latin typeface="Arial"/>
            </a:endParaRPr>
          </a:p>
          <a:p>
            <a:pPr marL="283879" indent="-283879">
              <a:lnSpc>
                <a:spcPct val="114999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Is a </a:t>
            </a:r>
            <a:r>
              <a:rPr lang="it-IT" sz="1800" b="1" i="0">
                <a:solidFill>
                  <a:schemeClr val="tx2"/>
                </a:solidFill>
                <a:latin typeface="Arial"/>
              </a:rPr>
              <a:t>dexed</a:t>
            </a:r>
            <a:r>
              <a:rPr lang="it-IT" sz="1800" b="0" i="1">
                <a:solidFill>
                  <a:schemeClr val="tx2"/>
                </a:solidFill>
                <a:latin typeface="Arial"/>
              </a:rPr>
              <a:t> Java </a:t>
            </a:r>
            <a:r>
              <a:rPr lang="it-IT" sz="1800" b="0" i="0">
                <a:solidFill>
                  <a:schemeClr val="tx2"/>
                </a:solidFill>
                <a:latin typeface="Arial"/>
              </a:rPr>
              <a:t>binary that runs outside the standard app sandbox via Android’s </a:t>
            </a:r>
            <a:r>
              <a:rPr lang="it-IT" sz="1800" b="0" i="0">
                <a:solidFill>
                  <a:schemeClr val="tx2"/>
                </a:solidFill>
                <a:latin typeface="FreeMono"/>
                <a:ea typeface="FreeMono"/>
                <a:cs typeface="FreeMono"/>
              </a:rPr>
              <a:t>app_process</a:t>
            </a:r>
            <a:r>
              <a:rPr lang="it-IT" sz="1800" b="0" i="0">
                <a:solidFill>
                  <a:schemeClr val="tx2"/>
                </a:solidFill>
                <a:latin typeface="Arial"/>
              </a:rPr>
              <a:t> (similar to </a:t>
            </a:r>
            <a:r>
              <a:rPr lang="it-IT" sz="1800" b="0" i="0">
                <a:solidFill>
                  <a:schemeClr val="tx2"/>
                </a:solidFill>
                <a:latin typeface="FreeMono"/>
                <a:ea typeface="FreeMono"/>
                <a:cs typeface="FreeMono"/>
              </a:rPr>
              <a:t>scrcpy</a:t>
            </a:r>
            <a:r>
              <a:rPr lang="it-IT" sz="1800" b="0" i="0">
                <a:solidFill>
                  <a:schemeClr val="tx2"/>
                </a:solidFill>
                <a:latin typeface="Arial"/>
              </a:rPr>
              <a:t>)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  <a:p>
            <a:pPr marL="283879" indent="-283879">
              <a:lnSpc>
                <a:spcPct val="114999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Leverages the </a:t>
            </a:r>
            <a:r>
              <a:rPr lang="it-IT" sz="1800" b="0" i="0">
                <a:solidFill>
                  <a:schemeClr val="tx2"/>
                </a:solidFill>
                <a:latin typeface="FreeMono"/>
                <a:ea typeface="FreeMono"/>
                <a:cs typeface="FreeMono"/>
              </a:rPr>
              <a:t>localabstract:droidground </a:t>
            </a:r>
            <a:r>
              <a:rPr lang="it-IT" sz="1800" b="0" i="1">
                <a:solidFill>
                  <a:schemeClr val="tx2"/>
                </a:solidFill>
                <a:latin typeface="Arial"/>
              </a:rPr>
              <a:t>UNIX socket</a:t>
            </a:r>
            <a:endParaRPr sz="1800" b="0" i="1">
              <a:solidFill>
                <a:schemeClr val="tx2"/>
              </a:solidFill>
              <a:latin typeface="Arial"/>
            </a:endParaRPr>
          </a:p>
          <a:p>
            <a:pPr marL="283879" indent="-283879">
              <a:lnSpc>
                <a:spcPct val="114999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Communicates with the server via </a:t>
            </a:r>
            <a:r>
              <a:rPr lang="it-IT" sz="1800" b="1" i="0">
                <a:solidFill>
                  <a:schemeClr val="tx2"/>
                </a:solidFill>
                <a:latin typeface="Arial"/>
              </a:rPr>
              <a:t>protobuf</a:t>
            </a:r>
            <a:endParaRPr lang="it-IT" sz="1800" b="1" i="0">
              <a:solidFill>
                <a:schemeClr val="tx2"/>
              </a:solidFill>
              <a:latin typeface="Arial"/>
            </a:endParaRPr>
          </a:p>
          <a:p>
            <a:pPr marL="283879" indent="-283879">
              <a:lnSpc>
                <a:spcPct val="114999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Arial"/>
              </a:rPr>
              <a:t>Provides the following features: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  <a:p>
            <a:pPr marL="683929" lvl="1" indent="-283879">
              <a:lnSpc>
                <a:spcPct val="114999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FreeMono"/>
                <a:ea typeface="FreeMono"/>
                <a:cs typeface="FreeMono"/>
              </a:rPr>
              <a:t>getVersion</a:t>
            </a:r>
            <a:r>
              <a:rPr lang="it-IT" sz="1800" b="0" i="0">
                <a:solidFill>
                  <a:schemeClr val="tx2"/>
                </a:solidFill>
                <a:latin typeface="Arial"/>
              </a:rPr>
              <a:t>: returns the current version of the installed apps</a:t>
            </a:r>
            <a:endParaRPr sz="1800" b="0" i="0">
              <a:solidFill>
                <a:schemeClr val="tx2"/>
              </a:solidFill>
              <a:latin typeface="Arial"/>
            </a:endParaRPr>
          </a:p>
          <a:p>
            <a:pPr marL="683929" lvl="1" indent="-283879">
              <a:lnSpc>
                <a:spcPct val="114999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FreeMono"/>
                <a:ea typeface="FreeMono"/>
                <a:cs typeface="FreeMono"/>
              </a:rPr>
              <a:t>getPackageInfos</a:t>
            </a:r>
            <a:r>
              <a:rPr lang="it-IT" sz="1800" b="0" i="0">
                <a:solidFill>
                  <a:schemeClr val="tx2"/>
                </a:solidFill>
                <a:latin typeface="Arial"/>
              </a:rPr>
              <a:t>: returns some metadata about the apps (e.g. the name and the icon)</a:t>
            </a:r>
            <a:endParaRPr sz="1800" b="0" i="0">
              <a:solidFill>
                <a:schemeClr val="tx2"/>
              </a:solidFill>
              <a:latin typeface="Arial"/>
            </a:endParaRPr>
          </a:p>
          <a:p>
            <a:pPr marL="683929" lvl="1" indent="-283879">
              <a:lnSpc>
                <a:spcPct val="114999"/>
              </a:lnSpc>
              <a:buClrTx/>
              <a:buSzTx/>
              <a:buFont typeface="Wingdings"/>
              <a:buChar char="w"/>
              <a:defRPr/>
            </a:pPr>
            <a:r>
              <a:rPr lang="it-IT" sz="1800" b="0" i="0">
                <a:solidFill>
                  <a:schemeClr val="tx2"/>
                </a:solidFill>
                <a:latin typeface="FreeMono"/>
                <a:ea typeface="FreeMono"/>
                <a:cs typeface="FreeMono"/>
              </a:rPr>
              <a:t>getAttackSurface</a:t>
            </a:r>
            <a:r>
              <a:rPr lang="it-IT" sz="1800" b="0" i="0">
                <a:solidFill>
                  <a:schemeClr val="tx2"/>
                </a:solidFill>
                <a:latin typeface="Arial"/>
              </a:rPr>
              <a:t>: returns the exported components for each app</a:t>
            </a:r>
            <a:endParaRPr lang="it-IT" sz="1800" b="0" i="0">
              <a:solidFill>
                <a:schemeClr val="tx2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452140" name="Project…"/>
          <p:cNvSpPr txBox="1"/>
          <p:nvPr/>
        </p:nvSpPr>
        <p:spPr bwMode="auto">
          <a:xfrm>
            <a:off x="761999" y="2512691"/>
            <a:ext cx="12598377" cy="555095"/>
          </a:xfrm>
          <a:prstGeom prst="rect">
            <a:avLst/>
          </a:prstGeom>
          <a:ln w="12700">
            <a:miter lim="400000"/>
          </a:ln>
        </p:spPr>
        <p:txBody>
          <a:bodyPr wrap="square" lIns="30479" tIns="30479" rIns="30479" bIns="30479" anchor="ctr">
            <a:spAutoFit/>
          </a:bodyPr>
          <a:lstStyle/>
          <a:p>
            <a:pPr defTabSz="548640">
              <a:lnSpc>
                <a:spcPct val="90000"/>
              </a:lnSpc>
              <a:defRPr sz="8000" spc="-147">
                <a:solidFill>
                  <a:srgbClr val="01CF89"/>
                </a:solidFill>
                <a:latin typeface="+mn-lt"/>
                <a:ea typeface="+mn-ea"/>
                <a:cs typeface="+mn-cs"/>
              </a:defRPr>
            </a:pPr>
            <a:r>
              <a:rPr lang="it-IT" sz="3600" b="1">
                <a:solidFill>
                  <a:srgbClr val="1A6690"/>
                </a:solidFill>
                <a:latin typeface="Arial Black"/>
              </a:rPr>
              <a:t>Let’s talk about the elephant in the room</a:t>
            </a:r>
            <a:endParaRPr sz="3600" b="1">
              <a:solidFill>
                <a:srgbClr val="1A6690"/>
              </a:solidFill>
              <a:latin typeface="Arial Black"/>
            </a:endParaRPr>
          </a:p>
        </p:txBody>
      </p:sp>
      <p:sp>
        <p:nvSpPr>
          <p:cNvPr id="354967978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762359" y="3454528"/>
            <a:ext cx="12598017" cy="3355845"/>
          </a:xfrm>
          <a:prstGeom prst="rect">
            <a:avLst/>
          </a:prstGeom>
          <a:ln w="12700">
            <a:miter lim="400000"/>
          </a:ln>
        </p:spPr>
        <p:txBody>
          <a:bodyPr lIns="30479" tIns="30479" rIns="30479" bIns="30479"/>
          <a:lstStyle>
            <a:lvl1pPr defTabSz="914400"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>
              <a:lnSpc>
                <a:spcPct val="114999"/>
              </a:lnSpc>
              <a:defRPr/>
            </a:pPr>
            <a:r>
              <a:rPr lang="it-IT" sz="1800">
                <a:solidFill>
                  <a:schemeClr val="tx2"/>
                </a:solidFill>
                <a:latin typeface="Arial"/>
              </a:rPr>
              <a:t>Scaling it for real-world, multi-player CTF environments is not trivial:</a:t>
            </a:r>
            <a:endParaRPr lang="it-IT" sz="1800">
              <a:solidFill>
                <a:schemeClr val="tx2"/>
              </a:solidFill>
              <a:latin typeface="Arial"/>
            </a:endParaRPr>
          </a:p>
          <a:p>
            <a:pPr marL="283879" indent="-283879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w"/>
              <a:defRPr/>
            </a:pPr>
            <a:r>
              <a:rPr lang="it-IT" sz="1800" b="1">
                <a:solidFill>
                  <a:schemeClr val="tx2"/>
                </a:solidFill>
                <a:latin typeface="Arial"/>
              </a:rPr>
              <a:t>Use separate instances for each team/</a:t>
            </a:r>
            <a:r>
              <a:rPr lang="it-IT" sz="1800" b="1" i="0" u="none" strike="noStrike" cap="none" spc="-43">
                <a:ln>
                  <a:noFill/>
                </a:ln>
                <a:solidFill>
                  <a:schemeClr val="tx2"/>
                </a:solidFill>
                <a:latin typeface="Arial"/>
                <a:ea typeface="Arial"/>
                <a:cs typeface="Arial"/>
              </a:rPr>
              <a:t>player</a:t>
            </a:r>
            <a:r>
              <a:rPr lang="it-IT" sz="1800">
                <a:solidFill>
                  <a:schemeClr val="tx2"/>
                </a:solidFill>
                <a:latin typeface="Arial"/>
              </a:rPr>
              <a:t>: </a:t>
            </a:r>
            <a:r>
              <a:rPr lang="it-IT" sz="1800" b="0" i="0" u="none" strike="noStrike" cap="none" spc="-43">
                <a:ln>
                  <a:noFill/>
                </a:ln>
                <a:solidFill>
                  <a:schemeClr val="tx2"/>
                </a:solidFill>
                <a:latin typeface="Arial"/>
                <a:ea typeface="Arial"/>
                <a:cs typeface="Arial"/>
              </a:rPr>
              <a:t>provision costs are higher if compared with webapps. Even when using containers, disk and RAM requirements are slightly higher. </a:t>
            </a:r>
            <a:r>
              <a:rPr lang="it-IT" sz="1800" b="1" i="0" u="sng" strike="noStrike" cap="none" spc="-43">
                <a:ln>
                  <a:noFill/>
                </a:ln>
                <a:solidFill>
                  <a:srgbClr val="28CC99"/>
                </a:solidFill>
                <a:latin typeface="Arial"/>
                <a:ea typeface="Arial"/>
                <a:cs typeface="Arial"/>
              </a:rPr>
              <a:t>A sample </a:t>
            </a:r>
            <a:r>
              <a:rPr lang="it-IT" sz="1800" b="1" i="0" u="sng" strike="noStrike" cap="none" spc="-43">
                <a:ln>
                  <a:noFill/>
                </a:ln>
                <a:solidFill>
                  <a:srgbClr val="28CC99"/>
                </a:solidFill>
                <a:latin typeface="Arial"/>
                <a:ea typeface="Arial"/>
                <a:cs typeface="Arial"/>
              </a:rPr>
              <a:t>instancer </a:t>
            </a:r>
            <a:r>
              <a:rPr lang="it-IT" sz="1800" b="1" i="0" u="sng" strike="noStrike" cap="none" spc="-43">
                <a:ln>
                  <a:noFill/>
                </a:ln>
                <a:solidFill>
                  <a:srgbClr val="28CC99"/>
                </a:solidFill>
                <a:latin typeface="Arial"/>
                <a:ea typeface="Arial"/>
                <a:cs typeface="Arial"/>
              </a:rPr>
              <a:t>is available on GitHub </a:t>
            </a:r>
            <a:endParaRPr sz="1800" b="1" i="0" u="sng" strike="noStrike" cap="none" spc="-43">
              <a:ln>
                <a:noFill/>
              </a:ln>
              <a:solidFill>
                <a:srgbClr val="28CC99"/>
              </a:solidFill>
              <a:latin typeface="Times New Roman"/>
              <a:cs typeface="Times New Roman"/>
            </a:endParaRPr>
          </a:p>
          <a:p>
            <a:pPr marL="283879" indent="-283879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w"/>
              <a:defRPr/>
            </a:pPr>
            <a:r>
              <a:rPr lang="it-IT" sz="1800" b="1" i="0" u="none" strike="noStrike" cap="none" spc="-43">
                <a:ln>
                  <a:noFill/>
                </a:ln>
                <a:solidFill>
                  <a:schemeClr val="tx2"/>
                </a:solidFill>
                <a:latin typeface="Arial"/>
                <a:ea typeface="Arial"/>
                <a:cs typeface="Arial"/>
              </a:rPr>
              <a:t>Use a shared instance</a:t>
            </a:r>
            <a:r>
              <a:rPr lang="it-IT" sz="1800" b="0" i="0" u="none" strike="noStrike" cap="none" spc="-43">
                <a:ln>
                  <a:noFill/>
                </a:ln>
                <a:solidFill>
                  <a:schemeClr val="tx2"/>
                </a:solidFill>
                <a:latin typeface="Arial"/>
                <a:ea typeface="Arial"/>
                <a:cs typeface="Arial"/>
              </a:rPr>
              <a:t>: a little bit of custom orchestration would be needed in this case (currently not envisioned as part of the project)</a:t>
            </a:r>
            <a:endParaRPr lang="it-IT" sz="1800" b="0" i="0" u="none" strike="noStrike" cap="none" spc="-43">
              <a:ln>
                <a:noFill/>
              </a:ln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endParaRPr lang="it-IT" sz="2800"/>
          </a:p>
          <a:p>
            <a:pPr>
              <a:lnSpc>
                <a:spcPct val="114999"/>
              </a:lnSpc>
              <a:defRPr/>
            </a:pPr>
            <a:r>
              <a:rPr lang="it-IT" sz="1800">
                <a:solidFill>
                  <a:schemeClr val="tx2"/>
                </a:solidFill>
                <a:latin typeface="Arial"/>
              </a:rPr>
              <a:t>Different solutions are being explored as of now and feedback is highly welcomed!</a:t>
            </a:r>
            <a:endParaRPr lang="it-IT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68852" name="Project…"/>
          <p:cNvSpPr txBox="1"/>
          <p:nvPr/>
        </p:nvSpPr>
        <p:spPr bwMode="auto">
          <a:xfrm flipH="0" flipV="0">
            <a:off x="6891117" y="2515389"/>
            <a:ext cx="5096851" cy="555095"/>
          </a:xfrm>
          <a:prstGeom prst="rect">
            <a:avLst/>
          </a:prstGeom>
          <a:ln w="12700">
            <a:miter lim="400000"/>
          </a:ln>
        </p:spPr>
        <p:txBody>
          <a:bodyPr wrap="square" lIns="30479" tIns="30479" rIns="30479" bIns="30479" anchor="ctr">
            <a:spAutoFit/>
          </a:bodyPr>
          <a:lstStyle/>
          <a:p>
            <a:pPr defTabSz="548640">
              <a:lnSpc>
                <a:spcPct val="90000"/>
              </a:lnSpc>
              <a:defRPr sz="8000" spc="-147">
                <a:solidFill>
                  <a:srgbClr val="01CF89"/>
                </a:solidFill>
                <a:latin typeface="+mn-lt"/>
                <a:ea typeface="+mn-ea"/>
                <a:cs typeface="+mn-cs"/>
              </a:defRPr>
            </a:pPr>
            <a:r>
              <a:rPr lang="it-IT" sz="3600" b="1">
                <a:solidFill>
                  <a:srgbClr val="1A6690"/>
                </a:solidFill>
                <a:latin typeface="Arial Black"/>
              </a:rPr>
              <a:t>What’s Next</a:t>
            </a:r>
            <a:endParaRPr sz="3600" b="1">
              <a:solidFill>
                <a:srgbClr val="1A6690"/>
              </a:solidFill>
              <a:latin typeface="Arial Black"/>
            </a:endParaRPr>
          </a:p>
        </p:txBody>
      </p:sp>
      <p:sp>
        <p:nvSpPr>
          <p:cNvPr id="52051892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6891374" y="3454527"/>
            <a:ext cx="5016499" cy="561846"/>
          </a:xfrm>
          <a:prstGeom prst="rect">
            <a:avLst/>
          </a:prstGeom>
          <a:ln w="12700">
            <a:miter lim="400000"/>
          </a:ln>
        </p:spPr>
        <p:txBody>
          <a:bodyPr lIns="30479" tIns="30479" rIns="30479" bIns="30479"/>
          <a:lstStyle>
            <a:lvl1pPr defTabSz="914400"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>
              <a:lnSpc>
                <a:spcPct val="114999"/>
              </a:lnSpc>
              <a:defRPr/>
            </a:pPr>
            <a:r>
              <a:rPr lang="it-IT" sz="2600" b="1">
                <a:solidFill>
                  <a:schemeClr val="tx2"/>
                </a:solidFill>
                <a:latin typeface="Arial"/>
              </a:rPr>
              <a:t>Spread the word</a:t>
            </a:r>
            <a:endParaRPr sz="8000" b="1"/>
          </a:p>
        </p:txBody>
      </p:sp>
      <p:pic>
        <p:nvPicPr>
          <p:cNvPr id="8406576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04999" y="2532062"/>
            <a:ext cx="2968624" cy="2968624"/>
          </a:xfrm>
          <a:prstGeom prst="rect">
            <a:avLst/>
          </a:prstGeom>
        </p:spPr>
      </p:pic>
      <p:sp>
        <p:nvSpPr>
          <p:cNvPr id="638727175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6891374" y="4016374"/>
            <a:ext cx="5016498" cy="561845"/>
          </a:xfrm>
          <a:prstGeom prst="rect">
            <a:avLst/>
          </a:prstGeom>
          <a:ln w="12700">
            <a:miter lim="400000"/>
          </a:ln>
        </p:spPr>
        <p:txBody>
          <a:bodyPr lIns="30479" tIns="30479" rIns="30479" bIns="30479"/>
          <a:lstStyle>
            <a:lvl1pPr defTabSz="914400"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>
              <a:lnSpc>
                <a:spcPct val="114999"/>
              </a:lnSpc>
              <a:defRPr/>
            </a:pPr>
            <a:r>
              <a:rPr lang="it-IT" sz="2600" b="1">
                <a:solidFill>
                  <a:schemeClr val="tx2"/>
                </a:solidFill>
                <a:latin typeface="Arial"/>
              </a:rPr>
              <a:t>Use it</a:t>
            </a:r>
            <a:endParaRPr sz="8000" b="1"/>
          </a:p>
        </p:txBody>
      </p:sp>
      <p:sp>
        <p:nvSpPr>
          <p:cNvPr id="1526797534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6891117" y="4578220"/>
            <a:ext cx="5016498" cy="561845"/>
          </a:xfrm>
          <a:prstGeom prst="rect">
            <a:avLst/>
          </a:prstGeom>
          <a:ln w="12700">
            <a:miter lim="400000"/>
          </a:ln>
        </p:spPr>
        <p:txBody>
          <a:bodyPr lIns="30479" tIns="30479" rIns="30479" bIns="30479"/>
          <a:lstStyle>
            <a:lvl1pPr defTabSz="914400"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>
              <a:lnSpc>
                <a:spcPct val="114999"/>
              </a:lnSpc>
              <a:defRPr/>
            </a:pPr>
            <a:r>
              <a:rPr lang="it-IT" sz="2600" b="1">
                <a:solidFill>
                  <a:schemeClr val="tx2"/>
                </a:solidFill>
                <a:latin typeface="Arial"/>
              </a:rPr>
              <a:t>Get feedback</a:t>
            </a:r>
            <a:endParaRPr sz="8000" b="1"/>
          </a:p>
        </p:txBody>
      </p:sp>
      <p:sp>
        <p:nvSpPr>
          <p:cNvPr id="1891776015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6891117" y="5140066"/>
            <a:ext cx="5016498" cy="561845"/>
          </a:xfrm>
          <a:prstGeom prst="rect">
            <a:avLst/>
          </a:prstGeom>
          <a:ln w="12700">
            <a:miter lim="400000"/>
          </a:ln>
        </p:spPr>
        <p:txBody>
          <a:bodyPr lIns="30479" tIns="30479" rIns="30479" bIns="30479"/>
          <a:lstStyle>
            <a:lvl1pPr defTabSz="914400">
              <a:defRPr sz="2400" spc="-43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>
              <a:lnSpc>
                <a:spcPct val="114999"/>
              </a:lnSpc>
              <a:defRPr/>
            </a:pPr>
            <a:r>
              <a:rPr lang="it-IT" sz="2600" b="1">
                <a:solidFill>
                  <a:schemeClr val="tx2"/>
                </a:solidFill>
                <a:latin typeface="Arial"/>
              </a:rPr>
              <a:t>Improve it!</a:t>
            </a:r>
            <a:endParaRPr sz="8000" b="1"/>
          </a:p>
        </p:txBody>
      </p:sp>
      <p:sp>
        <p:nvSpPr>
          <p:cNvPr id="1648622760" name="Project…"/>
          <p:cNvSpPr txBox="1"/>
          <p:nvPr/>
        </p:nvSpPr>
        <p:spPr bwMode="auto">
          <a:xfrm flipH="0" flipV="0">
            <a:off x="4342768" y="7377691"/>
            <a:ext cx="5102250" cy="555095"/>
          </a:xfrm>
          <a:prstGeom prst="rect">
            <a:avLst/>
          </a:prstGeom>
          <a:ln w="12700">
            <a:miter lim="400000"/>
          </a:ln>
        </p:spPr>
        <p:txBody>
          <a:bodyPr wrap="square" lIns="30479" tIns="30479" rIns="30479" bIns="30479" anchor="ctr">
            <a:spAutoFit/>
          </a:bodyPr>
          <a:lstStyle/>
          <a:p>
            <a:pPr algn="ctr" defTabSz="548640">
              <a:lnSpc>
                <a:spcPct val="90000"/>
              </a:lnSpc>
              <a:defRPr sz="8000" spc="-147">
                <a:solidFill>
                  <a:srgbClr val="01CF89"/>
                </a:solidFill>
                <a:latin typeface="+mn-lt"/>
                <a:ea typeface="+mn-ea"/>
                <a:cs typeface="+mn-cs"/>
              </a:defRPr>
            </a:pPr>
            <a:r>
              <a:rPr lang="it-IT" sz="3600" b="1">
                <a:solidFill>
                  <a:srgbClr val="1A6690"/>
                </a:solidFill>
                <a:latin typeface="Arial Black"/>
              </a:rPr>
              <a:t>Get involved!</a:t>
            </a:r>
            <a:endParaRPr sz="3600" b="1">
              <a:solidFill>
                <a:srgbClr val="1A6690"/>
              </a:solidFill>
              <a:latin typeface="Arial Black"/>
            </a:endParaRPr>
          </a:p>
        </p:txBody>
      </p:sp>
      <p:sp>
        <p:nvSpPr>
          <p:cNvPr id="1063296453" name="Project…"/>
          <p:cNvSpPr txBox="1"/>
          <p:nvPr/>
        </p:nvSpPr>
        <p:spPr bwMode="auto">
          <a:xfrm flipH="0" flipV="0">
            <a:off x="1317013" y="6751327"/>
            <a:ext cx="11149289" cy="417935"/>
          </a:xfrm>
          <a:prstGeom prst="rect">
            <a:avLst/>
          </a:prstGeom>
          <a:ln w="12700">
            <a:miter lim="400000"/>
          </a:ln>
        </p:spPr>
        <p:txBody>
          <a:bodyPr wrap="square" lIns="30479" tIns="30479" rIns="30479" bIns="30479" anchor="ctr">
            <a:spAutoFit/>
          </a:bodyPr>
          <a:lstStyle/>
          <a:p>
            <a:pPr algn="ctr" defTabSz="548640">
              <a:lnSpc>
                <a:spcPct val="90000"/>
              </a:lnSpc>
              <a:defRPr sz="8000" spc="-147">
                <a:solidFill>
                  <a:srgbClr val="01CF89"/>
                </a:solidFill>
                <a:latin typeface="+mn-lt"/>
                <a:ea typeface="+mn-ea"/>
                <a:cs typeface="+mn-cs"/>
              </a:defRPr>
            </a:pPr>
            <a:r>
              <a:rPr lang="it-IT" sz="2600" b="1" u="sng">
                <a:solidFill>
                  <a:srgbClr val="28CC99"/>
                </a:solidFill>
                <a:latin typeface="Arial Black"/>
              </a:rPr>
              <a:t>https://github.com/SECFORCE/droidground</a:t>
            </a:r>
            <a:endParaRPr sz="2600" b="1" u="sng">
              <a:solidFill>
                <a:srgbClr val="28CC99"/>
              </a:solidFill>
              <a:latin typeface="Arial Black"/>
            </a:endParaRPr>
          </a:p>
        </p:txBody>
      </p:sp>
      <p:pic>
        <p:nvPicPr>
          <p:cNvPr id="58970667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794725" y="3676929"/>
            <a:ext cx="1343153" cy="1343153"/>
          </a:xfrm>
          <a:prstGeom prst="rect">
            <a:avLst/>
          </a:prstGeom>
        </p:spPr>
      </p:pic>
      <p:pic>
        <p:nvPicPr>
          <p:cNvPr id="48315747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009193" y="3068264"/>
            <a:ext cx="3474744" cy="2458064"/>
          </a:xfrm>
          <a:prstGeom prst="rect">
            <a:avLst/>
          </a:prstGeom>
        </p:spPr>
      </p:pic>
      <p:sp>
        <p:nvSpPr>
          <p:cNvPr id="440421904" name="Fictum, deserunt mollit anim laborum astutumque! Ullamco laboris nisi ut aliquid ex ea commodi consequat. Mercedem aut nummos unde unde extricat, amaras. Sed haec quis possit intrepidus aestimare tellus."/>
          <p:cNvSpPr txBox="1"/>
          <p:nvPr/>
        </p:nvSpPr>
        <p:spPr bwMode="auto">
          <a:xfrm flipH="0" flipV="0">
            <a:off x="10330858" y="5140064"/>
            <a:ext cx="4270887" cy="997627"/>
          </a:xfrm>
          <a:prstGeom prst="rect">
            <a:avLst/>
          </a:prstGeom>
          <a:ln w="12700">
            <a:miter lim="400000"/>
          </a:ln>
        </p:spPr>
        <p:txBody>
          <a:bodyPr lIns="30478" tIns="30478" rIns="30478" bIns="30478"/>
          <a:lstStyle>
            <a:lvl1pPr defTabSz="914400">
              <a:defRPr sz="2400" spc="-42">
                <a:solidFill>
                  <a:srgbClr val="01CF89"/>
                </a:solidFill>
                <a:latin typeface="Spartan Thin Medium"/>
                <a:ea typeface="Spartan Thin Medium"/>
                <a:cs typeface="Spartan Thin Medium"/>
              </a:defRPr>
            </a:lvl1pPr>
          </a:lstStyle>
          <a:p>
            <a:pPr algn="ctr">
              <a:lnSpc>
                <a:spcPct val="114999"/>
              </a:lnSpc>
              <a:defRPr/>
            </a:pPr>
            <a:r>
              <a:rPr lang="it-IT" sz="2600" b="1">
                <a:solidFill>
                  <a:schemeClr val="tx2"/>
                </a:solidFill>
                <a:latin typeface="Arial"/>
              </a:rPr>
              <a:t>Upcoming CTF by Napwnli</a:t>
            </a:r>
            <a:endParaRPr lang="it-IT" sz="2600" b="1">
              <a:solidFill>
                <a:schemeClr val="tx2"/>
              </a:solidFill>
              <a:latin typeface="Arial"/>
            </a:endParaRPr>
          </a:p>
          <a:p>
            <a:pPr algn="ctr">
              <a:lnSpc>
                <a:spcPct val="114999"/>
              </a:lnSpc>
              <a:defRPr/>
            </a:pPr>
            <a:r>
              <a:rPr lang="it-IT" sz="2600" b="1" i="0" u="sng" strike="noStrike" cap="none" spc="-42">
                <a:ln>
                  <a:noFill/>
                </a:ln>
                <a:solidFill>
                  <a:srgbClr val="28CC99"/>
                </a:solidFill>
                <a:latin typeface="Arial"/>
                <a:ea typeface="Arial"/>
                <a:cs typeface="Arial"/>
              </a:rPr>
              <a:t>https://napwn.li</a:t>
            </a:r>
            <a:endParaRPr sz="2600" b="1" u="sng">
              <a:solidFill>
                <a:srgbClr val="28CC9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5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72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15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70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79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77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296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2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981016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45170" y="7239817"/>
            <a:ext cx="3340058" cy="529117"/>
          </a:xfrm>
          <a:prstGeom prst="rect">
            <a:avLst/>
          </a:prstGeom>
        </p:spPr>
      </p:pic>
      <p:sp>
        <p:nvSpPr>
          <p:cNvPr id="955442928" name="Body Level One…"/>
          <p:cNvSpPr txBox="1"/>
          <p:nvPr/>
        </p:nvSpPr>
        <p:spPr bwMode="auto">
          <a:xfrm flipH="0" flipV="0">
            <a:off x="1040420" y="6566400"/>
            <a:ext cx="12496798" cy="528782"/>
          </a:xfrm>
          <a:prstGeom prst="rect">
            <a:avLst/>
          </a:prstGeom>
        </p:spPr>
        <p:txBody>
          <a:bodyPr anchor="t"/>
          <a:lstStyle>
            <a:lvl1pPr marL="0" marR="0" indent="0" algn="ctr" defTabSz="495298">
              <a:lnSpc>
                <a:spcPct val="100000"/>
              </a:lnSpc>
              <a:spcBef>
                <a:spcPts val="598"/>
              </a:spcBef>
              <a:spcAft>
                <a:spcPts val="598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1pPr>
            <a:lvl2pPr marL="0" marR="0" indent="0" algn="ctr" defTabSz="495298">
              <a:lnSpc>
                <a:spcPct val="100000"/>
              </a:lnSpc>
              <a:spcBef>
                <a:spcPts val="598"/>
              </a:spcBef>
              <a:spcAft>
                <a:spcPts val="598"/>
              </a:spcAft>
              <a:buClrTx/>
              <a:buSzTx/>
              <a:buFontTx/>
              <a:buNone/>
              <a:defRPr sz="20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2pPr>
            <a:lvl3pPr marL="0" marR="0" indent="0" algn="ctr" defTabSz="495298">
              <a:lnSpc>
                <a:spcPct val="100000"/>
              </a:lnSpc>
              <a:spcBef>
                <a:spcPts val="598"/>
              </a:spcBef>
              <a:spcAft>
                <a:spcPts val="598"/>
              </a:spcAft>
              <a:buClrTx/>
              <a:buSzTx/>
              <a:buFontTx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3pPr>
            <a:lvl4pPr marL="0" marR="0" indent="0" algn="ctr" defTabSz="495298">
              <a:lnSpc>
                <a:spcPct val="100000"/>
              </a:lnSpc>
              <a:spcBef>
                <a:spcPts val="598"/>
              </a:spcBef>
              <a:spcAft>
                <a:spcPts val="598"/>
              </a:spcAft>
              <a:buClrTx/>
              <a:buSzTx/>
              <a:buFontTx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4pPr>
            <a:lvl5pPr marL="0" marR="0" indent="0" algn="ctr" defTabSz="495298">
              <a:lnSpc>
                <a:spcPct val="100000"/>
              </a:lnSpc>
              <a:spcBef>
                <a:spcPts val="598"/>
              </a:spcBef>
              <a:spcAft>
                <a:spcPts val="598"/>
              </a:spcAft>
              <a:buClrTx/>
              <a:buSzTx/>
              <a:buFontTx/>
              <a:buNone/>
              <a:defRPr sz="1400" b="0" i="0" u="none" strike="noStrike" cap="none" spc="0">
                <a:solidFill>
                  <a:srgbClr val="000000"/>
                </a:solidFill>
                <a:latin typeface="Arial"/>
                <a:ea typeface="Helvetica Neue"/>
                <a:cs typeface="Helvetica Neue"/>
              </a:defRPr>
            </a:lvl5pPr>
            <a:lvl6pPr marL="2286000" marR="0" indent="-380998" algn="l" defTabSz="495298">
              <a:lnSpc>
                <a:spcPct val="120000"/>
              </a:lnSpc>
              <a:spcBef>
                <a:spcPts val="3538"/>
              </a:spcBef>
              <a:spcAft>
                <a:spcPts val="0"/>
              </a:spcAft>
              <a:buClrTx/>
              <a:buSzPct val="125000"/>
              <a:buFontTx/>
              <a:buChar char="•"/>
              <a:defRPr sz="3100" b="0" i="0" u="none" strike="noStrike" cap="none" spc="0">
                <a:solidFill>
                  <a:srgbClr val="000000"/>
                </a:solidFill>
                <a:latin typeface="Asap Regular"/>
                <a:ea typeface="Asap Regular"/>
                <a:cs typeface="Asap Regular"/>
              </a:defRPr>
            </a:lvl6pPr>
            <a:lvl7pPr marL="2666998" marR="0" indent="-380998" algn="l" defTabSz="495298">
              <a:lnSpc>
                <a:spcPct val="120000"/>
              </a:lnSpc>
              <a:spcBef>
                <a:spcPts val="3538"/>
              </a:spcBef>
              <a:spcAft>
                <a:spcPts val="0"/>
              </a:spcAft>
              <a:buClrTx/>
              <a:buSzPct val="125000"/>
              <a:buFontTx/>
              <a:buChar char="•"/>
              <a:defRPr sz="3100" b="0" i="0" u="none" strike="noStrike" cap="none" spc="0">
                <a:solidFill>
                  <a:srgbClr val="000000"/>
                </a:solidFill>
                <a:latin typeface="Asap Regular"/>
                <a:ea typeface="Asap Regular"/>
                <a:cs typeface="Asap Regular"/>
              </a:defRPr>
            </a:lvl7pPr>
            <a:lvl8pPr marL="3047998" marR="0" indent="-380998" algn="l" defTabSz="495298">
              <a:lnSpc>
                <a:spcPct val="120000"/>
              </a:lnSpc>
              <a:spcBef>
                <a:spcPts val="3538"/>
              </a:spcBef>
              <a:spcAft>
                <a:spcPts val="0"/>
              </a:spcAft>
              <a:buClrTx/>
              <a:buSzPct val="125000"/>
              <a:buFontTx/>
              <a:buChar char="•"/>
              <a:defRPr sz="3100" b="0" i="0" u="none" strike="noStrike" cap="none" spc="0">
                <a:solidFill>
                  <a:srgbClr val="000000"/>
                </a:solidFill>
                <a:latin typeface="Asap Regular"/>
                <a:ea typeface="Asap Regular"/>
                <a:cs typeface="Asap Regular"/>
              </a:defRPr>
            </a:lvl8pPr>
            <a:lvl9pPr marL="3429000" marR="0" indent="-380998" algn="l" defTabSz="495298">
              <a:lnSpc>
                <a:spcPct val="120000"/>
              </a:lnSpc>
              <a:spcBef>
                <a:spcPts val="3538"/>
              </a:spcBef>
              <a:spcAft>
                <a:spcPts val="0"/>
              </a:spcAft>
              <a:buClrTx/>
              <a:buSzPct val="125000"/>
              <a:buFontTx/>
              <a:buChar char="•"/>
              <a:defRPr sz="3100" b="0" i="0" u="none" strike="noStrike" cap="none" spc="0">
                <a:solidFill>
                  <a:srgbClr val="000000"/>
                </a:solidFill>
                <a:latin typeface="Asap Regular"/>
                <a:ea typeface="Asap Regular"/>
                <a:cs typeface="Asap Regular"/>
              </a:defRPr>
            </a:lvl9pPr>
          </a:lstStyle>
          <a:p>
            <a:pPr>
              <a:defRPr/>
            </a:pPr>
            <a:r>
              <a:rPr lang="it-IT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Angelo Delicato</a:t>
            </a:r>
            <a:endParaRPr lang="en-US" sz="24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80533915" name="Methodology"/>
          <p:cNvSpPr txBox="1"/>
          <p:nvPr/>
        </p:nvSpPr>
        <p:spPr bwMode="auto">
          <a:xfrm rot="0" flipH="0" flipV="0">
            <a:off x="0" y="3662985"/>
            <a:ext cx="14642640" cy="966575"/>
          </a:xfrm>
          <a:prstGeom prst="rect">
            <a:avLst/>
          </a:prstGeom>
          <a:grpFill/>
          <a:ln w="12700">
            <a:miter lim="400000"/>
          </a:ln>
        </p:spPr>
        <p:txBody>
          <a:bodyPr lIns="30479" tIns="30479" rIns="30479" bIns="30479" anchor="ctr">
            <a:spAutoFit/>
          </a:bodyPr>
          <a:lstStyle/>
          <a:p>
            <a:pPr algn="ctr" defTabSz="548640">
              <a:lnSpc>
                <a:spcPct val="90000"/>
              </a:lnSpc>
              <a:defRPr sz="16000" spc="-295">
                <a:solidFill>
                  <a:srgbClr val="01CF89"/>
                </a:solidFill>
                <a:latin typeface="+mn-lt"/>
                <a:ea typeface="+mn-ea"/>
                <a:cs typeface="+mn-cs"/>
              </a:defRPr>
            </a:pPr>
            <a:r>
              <a:rPr lang="it-IT" sz="6600" b="1">
                <a:solidFill>
                  <a:schemeClr val="bg1"/>
                </a:solidFill>
                <a:latin typeface="Arial Black"/>
              </a:rPr>
              <a:t>Thanks for your time!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White">
  <a:themeElements>
    <a:clrScheme name="BH24">
      <a:dk1>
        <a:srgbClr val="FFFFFF"/>
      </a:dk1>
      <a:lt1>
        <a:srgbClr val="000000"/>
      </a:lt1>
      <a:dk2>
        <a:srgbClr val="B1AFB1"/>
      </a:dk2>
      <a:lt2>
        <a:srgbClr val="243746"/>
      </a:lt2>
      <a:accent1>
        <a:srgbClr val="5BC2E7"/>
      </a:accent1>
      <a:accent2>
        <a:srgbClr val="1A658F"/>
      </a:accent2>
      <a:accent3>
        <a:srgbClr val="D0DF00"/>
      </a:accent3>
      <a:accent4>
        <a:srgbClr val="8E3A80"/>
      </a:accent4>
      <a:accent5>
        <a:srgbClr val="00A376"/>
      </a:accent5>
      <a:accent6>
        <a:srgbClr val="ED8B00"/>
      </a:accent6>
      <a:hlink>
        <a:srgbClr val="5BC2E7"/>
      </a:hlink>
      <a:folHlink>
        <a:srgbClr val="8E3A80"/>
      </a:folHlink>
    </a:clrScheme>
    <a:fontScheme name="Arial Black-Arial">
      <a:majorFont>
        <a:latin typeface="Arial Black"/>
        <a:ea typeface="Arial"/>
        <a:cs typeface="Arial"/>
      </a:majorFont>
      <a:minorFont>
        <a:latin typeface="Arial"/>
        <a:ea typeface="Arial"/>
        <a:cs typeface="Arial"/>
      </a:minorFont>
    </a:fontScheme>
    <a:fmtScheme name="Whit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accent1"/>
        </a:solidFill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rgbClr val="000000"/>
          </a:solidFill>
          <a:prstDash val="solid"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Spartan Bold"/>
        <a:ea typeface="Spartan Bold"/>
        <a:cs typeface="Spartan Bold"/>
      </a:majorFont>
      <a:minorFont>
        <a:latin typeface="Spartan Bold"/>
        <a:ea typeface="Spartan Bold"/>
        <a:cs typeface="Spartan Bold"/>
      </a:minorFont>
    </a:fontScheme>
    <a:fmtScheme name="Whit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accent1"/>
        </a:solidFill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rgbClr val="000000"/>
          </a:solidFill>
          <a:prstDash val="solid"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ONLYOFFICE/8.3.3.21</Application>
  <PresentationFormat>On-screen Show (4:3)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Nasr, Lisa</dc:creator>
  <cp:lastModifiedBy/>
  <cp:revision>45</cp:revision>
  <dcterms:modified xsi:type="dcterms:W3CDTF">2025-10-30T17:12:31Z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0x0101002E2E7756C3890541B25F222B995FAFBC</vt:lpwstr>
  </property>
  <property fmtid="{D5CDD505-2E9C-101B-9397-08002B2CF9AE}" pid="3" name="Order">
    <vt:r8>2400.000000</vt:r8>
  </property>
  <property fmtid="{D5CDD505-2E9C-101B-9397-08002B2CF9AE}" pid="4" name="MediaServiceImageTags">
    <vt:lpwstr/>
  </property>
  <property fmtid="{D5CDD505-2E9C-101B-9397-08002B2CF9AE}" pid="5" name="MSIP_Label_2bbab825-a111-45e4-86a1-18cee0005896_Enabled">
    <vt:lpwstr>true</vt:lpwstr>
  </property>
  <property fmtid="{D5CDD505-2E9C-101B-9397-08002B2CF9AE}" pid="6" name="MSIP_Label_2bbab825-a111-45e4-86a1-18cee0005896_SetDate">
    <vt:lpwstr>2022-09-12T19:49:12Z</vt:lpwstr>
  </property>
  <property fmtid="{D5CDD505-2E9C-101B-9397-08002B2CF9AE}" pid="7" name="MSIP_Label_2bbab825-a111-45e4-86a1-18cee0005896_Method">
    <vt:lpwstr>Standard</vt:lpwstr>
  </property>
  <property fmtid="{D5CDD505-2E9C-101B-9397-08002B2CF9AE}" pid="8" name="MSIP_Label_2bbab825-a111-45e4-86a1-18cee0005896_Name">
    <vt:lpwstr>2bbab825-a111-45e4-86a1-18cee0005896</vt:lpwstr>
  </property>
  <property fmtid="{D5CDD505-2E9C-101B-9397-08002B2CF9AE}" pid="9" name="MSIP_Label_2bbab825-a111-45e4-86a1-18cee0005896_SiteId">
    <vt:lpwstr>2567d566-604c-408a-8a60-55d0dc9d9d6b</vt:lpwstr>
  </property>
  <property fmtid="{D5CDD505-2E9C-101B-9397-08002B2CF9AE}" pid="10" name="MSIP_Label_2bbab825-a111-45e4-86a1-18cee0005896_ActionId">
    <vt:lpwstr>fb160a31-7410-41e6-bfbb-a8ca79fec1f7</vt:lpwstr>
  </property>
  <property fmtid="{D5CDD505-2E9C-101B-9397-08002B2CF9AE}" pid="11" name="MSIP_Label_2bbab825-a111-45e4-86a1-18cee0005896_ContentBits">
    <vt:lpwstr>2</vt:lpwstr>
  </property>
  <property fmtid="{D5CDD505-2E9C-101B-9397-08002B2CF9AE}" pid="12" name="ClassificationContentMarkingFooterLocations">
    <vt:lpwstr>White:3</vt:lpwstr>
  </property>
  <property fmtid="{D5CDD505-2E9C-101B-9397-08002B2CF9AE}" pid="13" name="ClassificationContentMarkingFooterText">
    <vt:lpwstr>Information Classification: General</vt:lpwstr>
  </property>
</Properties>
</file>